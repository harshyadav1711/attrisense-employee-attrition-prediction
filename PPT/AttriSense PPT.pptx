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charset="1" panose="020B0503030501040103"/>
      <p:regular r:id="rId16"/>
    </p:embeddedFont>
    <p:embeddedFont>
      <p:font typeface="Open Sauce Bold" charset="1" panose="00000800000000000000"/>
      <p:regular r:id="rId17"/>
    </p:embeddedFont>
    <p:embeddedFont>
      <p:font typeface="Open Sauce"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2721746" y="394386"/>
            <a:ext cx="15237466" cy="959241"/>
            <a:chOff x="0" y="0"/>
            <a:chExt cx="4013160" cy="252640"/>
          </a:xfrm>
        </p:grpSpPr>
        <p:sp>
          <p:nvSpPr>
            <p:cNvPr name="Freeform 3" id="3"/>
            <p:cNvSpPr/>
            <p:nvPr/>
          </p:nvSpPr>
          <p:spPr>
            <a:xfrm flipH="false" flipV="false" rot="0">
              <a:off x="0" y="0"/>
              <a:ext cx="4013160" cy="252640"/>
            </a:xfrm>
            <a:custGeom>
              <a:avLst/>
              <a:gdLst/>
              <a:ahLst/>
              <a:cxnLst/>
              <a:rect r="r" b="b" t="t" l="l"/>
              <a:pathLst>
                <a:path h="252640" w="4013160">
                  <a:moveTo>
                    <a:pt x="25912" y="0"/>
                  </a:moveTo>
                  <a:lnTo>
                    <a:pt x="3987247" y="0"/>
                  </a:lnTo>
                  <a:cubicBezTo>
                    <a:pt x="4001558" y="0"/>
                    <a:pt x="4013160" y="11601"/>
                    <a:pt x="4013160" y="25912"/>
                  </a:cubicBezTo>
                  <a:lnTo>
                    <a:pt x="4013160" y="226727"/>
                  </a:lnTo>
                  <a:cubicBezTo>
                    <a:pt x="4013160" y="233600"/>
                    <a:pt x="4010430" y="240191"/>
                    <a:pt x="4005570" y="245050"/>
                  </a:cubicBezTo>
                  <a:cubicBezTo>
                    <a:pt x="4000711" y="249910"/>
                    <a:pt x="3994120" y="252640"/>
                    <a:pt x="3987247" y="252640"/>
                  </a:cubicBezTo>
                  <a:lnTo>
                    <a:pt x="25912" y="252640"/>
                  </a:lnTo>
                  <a:cubicBezTo>
                    <a:pt x="11601" y="252640"/>
                    <a:pt x="0" y="241038"/>
                    <a:pt x="0" y="226727"/>
                  </a:cubicBezTo>
                  <a:lnTo>
                    <a:pt x="0" y="25912"/>
                  </a:lnTo>
                  <a:cubicBezTo>
                    <a:pt x="0" y="19040"/>
                    <a:pt x="2730" y="12449"/>
                    <a:pt x="7590" y="7590"/>
                  </a:cubicBezTo>
                  <a:cubicBezTo>
                    <a:pt x="12449" y="2730"/>
                    <a:pt x="19040" y="0"/>
                    <a:pt x="25912" y="0"/>
                  </a:cubicBezTo>
                  <a:close/>
                </a:path>
              </a:pathLst>
            </a:custGeom>
            <a:solidFill>
              <a:srgbClr val="F8FCFF"/>
            </a:solidFill>
            <a:ln w="38100" cap="rnd">
              <a:solidFill>
                <a:srgbClr val="0063C2"/>
              </a:solidFill>
              <a:prstDash val="solid"/>
              <a:round/>
            </a:ln>
          </p:spPr>
        </p:sp>
        <p:sp>
          <p:nvSpPr>
            <p:cNvPr name="TextBox 4" id="4"/>
            <p:cNvSpPr txBox="true"/>
            <p:nvPr/>
          </p:nvSpPr>
          <p:spPr>
            <a:xfrm>
              <a:off x="0" y="-38100"/>
              <a:ext cx="4013160" cy="29074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392107"/>
            <a:ext cx="4405296" cy="959241"/>
            <a:chOff x="0" y="0"/>
            <a:chExt cx="1160243" cy="252640"/>
          </a:xfrm>
        </p:grpSpPr>
        <p:sp>
          <p:nvSpPr>
            <p:cNvPr name="Freeform 6" id="6"/>
            <p:cNvSpPr/>
            <p:nvPr/>
          </p:nvSpPr>
          <p:spPr>
            <a:xfrm flipH="false" flipV="false" rot="0">
              <a:off x="0" y="0"/>
              <a:ext cx="1160243" cy="252640"/>
            </a:xfrm>
            <a:custGeom>
              <a:avLst/>
              <a:gdLst/>
              <a:ahLst/>
              <a:cxnLst/>
              <a:rect r="r" b="b" t="t" l="l"/>
              <a:pathLst>
                <a:path h="252640" w="1160243">
                  <a:moveTo>
                    <a:pt x="89628" y="0"/>
                  </a:moveTo>
                  <a:lnTo>
                    <a:pt x="1070614" y="0"/>
                  </a:lnTo>
                  <a:cubicBezTo>
                    <a:pt x="1120115" y="0"/>
                    <a:pt x="1160243" y="40128"/>
                    <a:pt x="1160243" y="89628"/>
                  </a:cubicBezTo>
                  <a:lnTo>
                    <a:pt x="1160243" y="163012"/>
                  </a:lnTo>
                  <a:cubicBezTo>
                    <a:pt x="1160243" y="186783"/>
                    <a:pt x="1150800" y="209580"/>
                    <a:pt x="1133991" y="226388"/>
                  </a:cubicBezTo>
                  <a:cubicBezTo>
                    <a:pt x="1117183" y="243197"/>
                    <a:pt x="1094385" y="252640"/>
                    <a:pt x="1070614" y="252640"/>
                  </a:cubicBezTo>
                  <a:lnTo>
                    <a:pt x="89628" y="252640"/>
                  </a:lnTo>
                  <a:cubicBezTo>
                    <a:pt x="65857" y="252640"/>
                    <a:pt x="43060" y="243197"/>
                    <a:pt x="26251" y="226388"/>
                  </a:cubicBezTo>
                  <a:cubicBezTo>
                    <a:pt x="9443" y="209580"/>
                    <a:pt x="0" y="186783"/>
                    <a:pt x="0" y="163012"/>
                  </a:cubicBezTo>
                  <a:lnTo>
                    <a:pt x="0" y="89628"/>
                  </a:lnTo>
                  <a:cubicBezTo>
                    <a:pt x="0" y="65857"/>
                    <a:pt x="9443" y="43060"/>
                    <a:pt x="26251" y="26251"/>
                  </a:cubicBezTo>
                  <a:cubicBezTo>
                    <a:pt x="43060" y="9443"/>
                    <a:pt x="65857" y="0"/>
                    <a:pt x="89628" y="0"/>
                  </a:cubicBezTo>
                  <a:close/>
                </a:path>
              </a:pathLst>
            </a:custGeom>
            <a:solidFill>
              <a:srgbClr val="0063C2"/>
            </a:solidFill>
          </p:spPr>
        </p:sp>
        <p:sp>
          <p:nvSpPr>
            <p:cNvPr name="TextBox 7" id="7"/>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9662954"/>
            <a:ext cx="18288000" cy="624046"/>
            <a:chOff x="0" y="0"/>
            <a:chExt cx="4816593" cy="164358"/>
          </a:xfrm>
        </p:grpSpPr>
        <p:sp>
          <p:nvSpPr>
            <p:cNvPr name="Freeform 9" id="9"/>
            <p:cNvSpPr/>
            <p:nvPr/>
          </p:nvSpPr>
          <p:spPr>
            <a:xfrm flipH="false" flipV="false" rot="0">
              <a:off x="0" y="0"/>
              <a:ext cx="4816592" cy="164358"/>
            </a:xfrm>
            <a:custGeom>
              <a:avLst/>
              <a:gdLst/>
              <a:ahLst/>
              <a:cxnLst/>
              <a:rect r="r" b="b" t="t" l="l"/>
              <a:pathLst>
                <a:path h="164358" w="4816592">
                  <a:moveTo>
                    <a:pt x="0" y="0"/>
                  </a:moveTo>
                  <a:lnTo>
                    <a:pt x="4816592" y="0"/>
                  </a:lnTo>
                  <a:lnTo>
                    <a:pt x="4816592" y="164358"/>
                  </a:lnTo>
                  <a:lnTo>
                    <a:pt x="0" y="164358"/>
                  </a:lnTo>
                  <a:close/>
                </a:path>
              </a:pathLst>
            </a:custGeom>
            <a:gradFill rotWithShape="true">
              <a:gsLst>
                <a:gs pos="0">
                  <a:srgbClr val="00172C">
                    <a:alpha val="100000"/>
                  </a:srgbClr>
                </a:gs>
                <a:gs pos="100000">
                  <a:srgbClr val="2961BC">
                    <a:alpha val="100000"/>
                  </a:srgbClr>
                </a:gs>
              </a:gsLst>
              <a:lin ang="0"/>
            </a:gradFill>
          </p:spPr>
        </p:sp>
        <p:sp>
          <p:nvSpPr>
            <p:cNvPr name="TextBox 10" id="10"/>
            <p:cNvSpPr txBox="true"/>
            <p:nvPr/>
          </p:nvSpPr>
          <p:spPr>
            <a:xfrm>
              <a:off x="0" y="9525"/>
              <a:ext cx="4816593" cy="154833"/>
            </a:xfrm>
            <a:prstGeom prst="rect">
              <a:avLst/>
            </a:prstGeom>
          </p:spPr>
          <p:txBody>
            <a:bodyPr anchor="ctr" rtlCol="false" tIns="50800" lIns="50800" bIns="50800" rIns="50800"/>
            <a:lstStyle/>
            <a:p>
              <a:pPr algn="ctr">
                <a:lnSpc>
                  <a:spcPts val="2372"/>
                </a:lnSpc>
              </a:pPr>
            </a:p>
          </p:txBody>
        </p:sp>
      </p:grpSp>
      <p:grpSp>
        <p:nvGrpSpPr>
          <p:cNvPr name="Group 11" id="11"/>
          <p:cNvGrpSpPr/>
          <p:nvPr/>
        </p:nvGrpSpPr>
        <p:grpSpPr>
          <a:xfrm rot="0">
            <a:off x="5393416" y="7471026"/>
            <a:ext cx="2908337" cy="1115371"/>
            <a:chOff x="0" y="0"/>
            <a:chExt cx="765982" cy="293760"/>
          </a:xfrm>
        </p:grpSpPr>
        <p:sp>
          <p:nvSpPr>
            <p:cNvPr name="Freeform 12" id="12"/>
            <p:cNvSpPr/>
            <p:nvPr/>
          </p:nvSpPr>
          <p:spPr>
            <a:xfrm flipH="false" flipV="false" rot="0">
              <a:off x="0" y="0"/>
              <a:ext cx="765982" cy="293760"/>
            </a:xfrm>
            <a:custGeom>
              <a:avLst/>
              <a:gdLst/>
              <a:ahLst/>
              <a:cxnLst/>
              <a:rect r="r" b="b" t="t" l="l"/>
              <a:pathLst>
                <a:path h="293760" w="765982">
                  <a:moveTo>
                    <a:pt x="135761" y="0"/>
                  </a:moveTo>
                  <a:lnTo>
                    <a:pt x="630221" y="0"/>
                  </a:lnTo>
                  <a:cubicBezTo>
                    <a:pt x="666227" y="0"/>
                    <a:pt x="700758" y="14303"/>
                    <a:pt x="726218" y="39763"/>
                  </a:cubicBezTo>
                  <a:cubicBezTo>
                    <a:pt x="751678" y="65223"/>
                    <a:pt x="765982" y="99755"/>
                    <a:pt x="765982" y="135761"/>
                  </a:cubicBezTo>
                  <a:lnTo>
                    <a:pt x="765982" y="158000"/>
                  </a:lnTo>
                  <a:cubicBezTo>
                    <a:pt x="765982" y="194006"/>
                    <a:pt x="751678" y="228537"/>
                    <a:pt x="726218" y="253997"/>
                  </a:cubicBezTo>
                  <a:cubicBezTo>
                    <a:pt x="700758" y="279457"/>
                    <a:pt x="666227" y="293760"/>
                    <a:pt x="630221" y="293760"/>
                  </a:cubicBezTo>
                  <a:lnTo>
                    <a:pt x="135761" y="293760"/>
                  </a:lnTo>
                  <a:cubicBezTo>
                    <a:pt x="99755" y="293760"/>
                    <a:pt x="65223" y="279457"/>
                    <a:pt x="39763" y="253997"/>
                  </a:cubicBezTo>
                  <a:cubicBezTo>
                    <a:pt x="14303" y="228537"/>
                    <a:pt x="0" y="194006"/>
                    <a:pt x="0" y="158000"/>
                  </a:cubicBezTo>
                  <a:lnTo>
                    <a:pt x="0" y="135761"/>
                  </a:lnTo>
                  <a:cubicBezTo>
                    <a:pt x="0" y="99755"/>
                    <a:pt x="14303" y="65223"/>
                    <a:pt x="39763" y="39763"/>
                  </a:cubicBezTo>
                  <a:cubicBezTo>
                    <a:pt x="65223" y="14303"/>
                    <a:pt x="99755" y="0"/>
                    <a:pt x="135761" y="0"/>
                  </a:cubicBezTo>
                  <a:close/>
                </a:path>
              </a:pathLst>
            </a:custGeom>
            <a:solidFill>
              <a:srgbClr val="0063C2"/>
            </a:solidFill>
          </p:spPr>
        </p:sp>
        <p:sp>
          <p:nvSpPr>
            <p:cNvPr name="TextBox 13" id="13"/>
            <p:cNvSpPr txBox="true"/>
            <p:nvPr/>
          </p:nvSpPr>
          <p:spPr>
            <a:xfrm>
              <a:off x="0" y="-38100"/>
              <a:ext cx="765982" cy="331860"/>
            </a:xfrm>
            <a:prstGeom prst="rect">
              <a:avLst/>
            </a:prstGeom>
          </p:spPr>
          <p:txBody>
            <a:bodyPr anchor="ctr" rtlCol="false" tIns="50800" lIns="50800" bIns="50800" rIns="50800"/>
            <a:lstStyle/>
            <a:p>
              <a:pPr algn="ctr">
                <a:lnSpc>
                  <a:spcPts val="2659"/>
                </a:lnSpc>
                <a:spcBef>
                  <a:spcPct val="0"/>
                </a:spcBef>
              </a:pPr>
              <a:r>
                <a:rPr lang="en-US" sz="1899">
                  <a:solidFill>
                    <a:srgbClr val="FFFFFF"/>
                  </a:solidFill>
                  <a:latin typeface="Canva Sans"/>
                  <a:ea typeface="Canva Sans"/>
                  <a:cs typeface="Canva Sans"/>
                  <a:sym typeface="Canva Sans"/>
                </a:rPr>
                <a:t>Machine Learning • Explainable AI • Streamlit</a:t>
              </a:r>
            </a:p>
          </p:txBody>
        </p:sp>
      </p:grpSp>
      <p:sp>
        <p:nvSpPr>
          <p:cNvPr name="Freeform 14" id="14"/>
          <p:cNvSpPr/>
          <p:nvPr/>
        </p:nvSpPr>
        <p:spPr>
          <a:xfrm flipH="false" flipV="false" rot="0">
            <a:off x="1421658" y="542922"/>
            <a:ext cx="510489" cy="510489"/>
          </a:xfrm>
          <a:custGeom>
            <a:avLst/>
            <a:gdLst/>
            <a:ahLst/>
            <a:cxnLst/>
            <a:rect r="r" b="b" t="t" l="l"/>
            <a:pathLst>
              <a:path h="510489" w="510489">
                <a:moveTo>
                  <a:pt x="0" y="0"/>
                </a:moveTo>
                <a:lnTo>
                  <a:pt x="510489" y="0"/>
                </a:lnTo>
                <a:lnTo>
                  <a:pt x="510489" y="510489"/>
                </a:lnTo>
                <a:lnTo>
                  <a:pt x="0" y="5104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8060507" y="1686046"/>
            <a:ext cx="9898705" cy="4942224"/>
          </a:xfrm>
          <a:custGeom>
            <a:avLst/>
            <a:gdLst/>
            <a:ahLst/>
            <a:cxnLst/>
            <a:rect r="r" b="b" t="t" l="l"/>
            <a:pathLst>
              <a:path h="4942224" w="9898705">
                <a:moveTo>
                  <a:pt x="0" y="0"/>
                </a:moveTo>
                <a:lnTo>
                  <a:pt x="9898705" y="0"/>
                </a:lnTo>
                <a:lnTo>
                  <a:pt x="9898705" y="4942225"/>
                </a:lnTo>
                <a:lnTo>
                  <a:pt x="0" y="4942225"/>
                </a:lnTo>
                <a:lnTo>
                  <a:pt x="0" y="0"/>
                </a:lnTo>
                <a:close/>
              </a:path>
            </a:pathLst>
          </a:custGeom>
          <a:blipFill>
            <a:blip r:embed="rId4"/>
            <a:stretch>
              <a:fillRect l="0" t="-2814" r="0" b="-2814"/>
            </a:stretch>
          </a:blipFill>
        </p:spPr>
      </p:sp>
      <p:sp>
        <p:nvSpPr>
          <p:cNvPr name="TextBox 16" id="16"/>
          <p:cNvSpPr txBox="true"/>
          <p:nvPr/>
        </p:nvSpPr>
        <p:spPr>
          <a:xfrm rot="0">
            <a:off x="572055" y="2042924"/>
            <a:ext cx="7770278" cy="1274707"/>
          </a:xfrm>
          <a:prstGeom prst="rect">
            <a:avLst/>
          </a:prstGeom>
        </p:spPr>
        <p:txBody>
          <a:bodyPr anchor="t" rtlCol="false" tIns="0" lIns="0" bIns="0" rIns="0">
            <a:spAutoFit/>
          </a:bodyPr>
          <a:lstStyle/>
          <a:p>
            <a:pPr algn="l">
              <a:lnSpc>
                <a:spcPts val="9815"/>
              </a:lnSpc>
            </a:pPr>
            <a:r>
              <a:rPr lang="en-US" b="true" sz="8686" spc="-321">
                <a:solidFill>
                  <a:srgbClr val="00172C"/>
                </a:solidFill>
                <a:latin typeface="Open Sauce Bold"/>
                <a:ea typeface="Open Sauce Bold"/>
                <a:cs typeface="Open Sauce Bold"/>
                <a:sym typeface="Open Sauce Bold"/>
              </a:rPr>
              <a:t>ATTRISENSE</a:t>
            </a:r>
          </a:p>
        </p:txBody>
      </p:sp>
      <p:sp>
        <p:nvSpPr>
          <p:cNvPr name="TextBox 17" id="17"/>
          <p:cNvSpPr txBox="true"/>
          <p:nvPr/>
        </p:nvSpPr>
        <p:spPr>
          <a:xfrm rot="0">
            <a:off x="572055" y="3993906"/>
            <a:ext cx="7334813" cy="2747772"/>
          </a:xfrm>
          <a:prstGeom prst="rect">
            <a:avLst/>
          </a:prstGeom>
        </p:spPr>
        <p:txBody>
          <a:bodyPr anchor="t" rtlCol="false" tIns="0" lIns="0" bIns="0" rIns="0">
            <a:spAutoFit/>
          </a:bodyPr>
          <a:lstStyle/>
          <a:p>
            <a:pPr algn="l">
              <a:lnSpc>
                <a:spcPts val="5423"/>
              </a:lnSpc>
            </a:pPr>
            <a:r>
              <a:rPr lang="en-US" sz="4800" spc="-177" b="true">
                <a:solidFill>
                  <a:srgbClr val="0063C2"/>
                </a:solidFill>
                <a:latin typeface="Open Sauce Bold"/>
                <a:ea typeface="Open Sauce Bold"/>
                <a:cs typeface="Open Sauce Bold"/>
                <a:sym typeface="Open Sauce Bold"/>
              </a:rPr>
              <a:t>AI-Powered Employee</a:t>
            </a:r>
          </a:p>
          <a:p>
            <a:pPr algn="l">
              <a:lnSpc>
                <a:spcPts val="5423"/>
              </a:lnSpc>
            </a:pPr>
            <a:r>
              <a:rPr lang="en-US" sz="4800" spc="-177" b="true">
                <a:solidFill>
                  <a:srgbClr val="0063C2"/>
                </a:solidFill>
                <a:latin typeface="Open Sauce Bold"/>
                <a:ea typeface="Open Sauce Bold"/>
                <a:cs typeface="Open Sauce Bold"/>
                <a:sym typeface="Open Sauce Bold"/>
              </a:rPr>
              <a:t>&amp; Explainable HR Analytics Platform</a:t>
            </a:r>
          </a:p>
          <a:p>
            <a:pPr algn="l">
              <a:lnSpc>
                <a:spcPts val="5423"/>
              </a:lnSpc>
            </a:pPr>
          </a:p>
        </p:txBody>
      </p:sp>
      <p:sp>
        <p:nvSpPr>
          <p:cNvPr name="TextBox 18" id="18"/>
          <p:cNvSpPr txBox="true"/>
          <p:nvPr/>
        </p:nvSpPr>
        <p:spPr>
          <a:xfrm rot="0">
            <a:off x="572055" y="7408428"/>
            <a:ext cx="4411338" cy="1343214"/>
          </a:xfrm>
          <a:prstGeom prst="rect">
            <a:avLst/>
          </a:prstGeom>
        </p:spPr>
        <p:txBody>
          <a:bodyPr anchor="t" rtlCol="false" tIns="0" lIns="0" bIns="0" rIns="0">
            <a:spAutoFit/>
          </a:bodyPr>
          <a:lstStyle/>
          <a:p>
            <a:pPr algn="l">
              <a:lnSpc>
                <a:spcPts val="2694"/>
              </a:lnSpc>
            </a:pPr>
            <a:r>
              <a:rPr lang="en-US" sz="2384" spc="38">
                <a:solidFill>
                  <a:srgbClr val="00172C"/>
                </a:solidFill>
                <a:latin typeface="Open Sauce"/>
                <a:ea typeface="Open Sauce"/>
                <a:cs typeface="Open Sauce"/>
                <a:sym typeface="Open Sauce"/>
              </a:rPr>
              <a:t>Summer Training Project</a:t>
            </a:r>
          </a:p>
          <a:p>
            <a:pPr algn="l">
              <a:lnSpc>
                <a:spcPts val="2694"/>
              </a:lnSpc>
            </a:pPr>
          </a:p>
          <a:p>
            <a:pPr algn="l">
              <a:lnSpc>
                <a:spcPts val="2694"/>
              </a:lnSpc>
            </a:pPr>
            <a:r>
              <a:rPr lang="en-US" sz="2384" spc="38">
                <a:solidFill>
                  <a:srgbClr val="00172C"/>
                </a:solidFill>
                <a:latin typeface="Open Sauce"/>
                <a:ea typeface="Open Sauce"/>
                <a:cs typeface="Open Sauce"/>
                <a:sym typeface="Open Sauce"/>
              </a:rPr>
              <a:t>Department of Computer Science &amp; Engineering</a:t>
            </a:r>
          </a:p>
        </p:txBody>
      </p:sp>
      <p:sp>
        <p:nvSpPr>
          <p:cNvPr name="TextBox 19" id="19"/>
          <p:cNvSpPr txBox="true"/>
          <p:nvPr/>
        </p:nvSpPr>
        <p:spPr>
          <a:xfrm rot="0">
            <a:off x="2208353" y="726560"/>
            <a:ext cx="2510030" cy="304419"/>
          </a:xfrm>
          <a:prstGeom prst="rect">
            <a:avLst/>
          </a:prstGeom>
        </p:spPr>
        <p:txBody>
          <a:bodyPr anchor="t" rtlCol="false" tIns="0" lIns="0" bIns="0" rIns="0">
            <a:spAutoFit/>
          </a:bodyPr>
          <a:lstStyle/>
          <a:p>
            <a:pPr algn="l">
              <a:lnSpc>
                <a:spcPts val="2372"/>
              </a:lnSpc>
            </a:pPr>
            <a:r>
              <a:rPr lang="en-US" b="true" sz="2100" spc="33">
                <a:solidFill>
                  <a:srgbClr val="F8FCFF"/>
                </a:solidFill>
                <a:latin typeface="Open Sauce Bold"/>
                <a:ea typeface="Open Sauce Bold"/>
                <a:cs typeface="Open Sauce Bold"/>
                <a:sym typeface="Open Sauce Bold"/>
              </a:rPr>
              <a:t>ATTRISENSE</a:t>
            </a:r>
          </a:p>
        </p:txBody>
      </p:sp>
      <p:sp>
        <p:nvSpPr>
          <p:cNvPr name="TextBox 20" id="20"/>
          <p:cNvSpPr txBox="true"/>
          <p:nvPr/>
        </p:nvSpPr>
        <p:spPr>
          <a:xfrm rot="0">
            <a:off x="9247208" y="601354"/>
            <a:ext cx="2005110" cy="599694"/>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Dataset Explorer</a:t>
            </a:r>
          </a:p>
        </p:txBody>
      </p:sp>
      <p:sp>
        <p:nvSpPr>
          <p:cNvPr name="TextBox 21" id="21"/>
          <p:cNvSpPr txBox="true"/>
          <p:nvPr/>
        </p:nvSpPr>
        <p:spPr>
          <a:xfrm rot="0">
            <a:off x="12018801" y="748992"/>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Prediction</a:t>
            </a:r>
          </a:p>
        </p:txBody>
      </p:sp>
      <p:sp>
        <p:nvSpPr>
          <p:cNvPr name="TextBox 22" id="22"/>
          <p:cNvSpPr txBox="true"/>
          <p:nvPr/>
        </p:nvSpPr>
        <p:spPr>
          <a:xfrm rot="0">
            <a:off x="14700186" y="748992"/>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Model Insights</a:t>
            </a:r>
          </a:p>
        </p:txBody>
      </p:sp>
      <p:sp>
        <p:nvSpPr>
          <p:cNvPr name="TextBox 23" id="23"/>
          <p:cNvSpPr txBox="true"/>
          <p:nvPr/>
        </p:nvSpPr>
        <p:spPr>
          <a:xfrm rot="0">
            <a:off x="6337223" y="726560"/>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Home</a:t>
            </a:r>
          </a:p>
        </p:txBody>
      </p:sp>
      <p:sp>
        <p:nvSpPr>
          <p:cNvPr name="TextBox 24" id="24"/>
          <p:cNvSpPr txBox="true"/>
          <p:nvPr/>
        </p:nvSpPr>
        <p:spPr>
          <a:xfrm rot="0">
            <a:off x="8956313" y="6743865"/>
            <a:ext cx="5743873" cy="2822544"/>
          </a:xfrm>
          <a:prstGeom prst="rect">
            <a:avLst/>
          </a:prstGeom>
        </p:spPr>
        <p:txBody>
          <a:bodyPr anchor="t" rtlCol="false" tIns="0" lIns="0" bIns="0" rIns="0">
            <a:spAutoFit/>
          </a:bodyPr>
          <a:lstStyle/>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Submitted By</a:t>
            </a:r>
          </a:p>
          <a:p>
            <a:pPr algn="l">
              <a:lnSpc>
                <a:spcPts val="2269"/>
              </a:lnSpc>
            </a:pPr>
          </a:p>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Harsh Yadav</a:t>
            </a:r>
          </a:p>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Roll No: 2300100100170</a:t>
            </a:r>
          </a:p>
          <a:p>
            <a:pPr algn="l">
              <a:lnSpc>
                <a:spcPts val="2269"/>
              </a:lnSpc>
            </a:pPr>
          </a:p>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B.Tech Computer Science &amp; Engineering</a:t>
            </a:r>
          </a:p>
          <a:p>
            <a:pPr algn="l">
              <a:lnSpc>
                <a:spcPts val="2269"/>
              </a:lnSpc>
            </a:pPr>
          </a:p>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United College of Engineering &amp; Research</a:t>
            </a:r>
          </a:p>
          <a:p>
            <a:pPr algn="l">
              <a:lnSpc>
                <a:spcPts val="2269"/>
              </a:lnSpc>
            </a:pPr>
          </a:p>
          <a:p>
            <a:pPr algn="l">
              <a:lnSpc>
                <a:spcPts val="2269"/>
              </a:lnSpc>
            </a:pPr>
            <a:r>
              <a:rPr lang="en-US" b="true" sz="2008" spc="-74">
                <a:gradFill>
                  <a:gsLst>
                    <a:gs pos="0">
                      <a:srgbClr val="00172C">
                        <a:alpha val="100000"/>
                      </a:srgbClr>
                    </a:gs>
                    <a:gs pos="100000">
                      <a:srgbClr val="2961BC">
                        <a:alpha val="100000"/>
                      </a:srgbClr>
                    </a:gs>
                  </a:gsLst>
                  <a:lin ang="0"/>
                </a:gradFill>
                <a:latin typeface="Open Sauce Bold"/>
                <a:ea typeface="Open Sauce Bold"/>
                <a:cs typeface="Open Sauce Bold"/>
                <a:sym typeface="Open Sauce Bold"/>
              </a:rPr>
              <a:t>Project Guide: Dr. Astha Singh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69280" y="440286"/>
            <a:ext cx="3722878" cy="669574"/>
            <a:chOff x="0" y="0"/>
            <a:chExt cx="1401640" cy="252090"/>
          </a:xfrm>
        </p:grpSpPr>
        <p:sp>
          <p:nvSpPr>
            <p:cNvPr name="Freeform 3" id="3"/>
            <p:cNvSpPr/>
            <p:nvPr/>
          </p:nvSpPr>
          <p:spPr>
            <a:xfrm flipH="false" flipV="false" rot="0">
              <a:off x="0" y="0"/>
              <a:ext cx="1401640" cy="252090"/>
            </a:xfrm>
            <a:custGeom>
              <a:avLst/>
              <a:gdLst/>
              <a:ahLst/>
              <a:cxnLst/>
              <a:rect r="r" b="b" t="t" l="l"/>
              <a:pathLst>
                <a:path h="252090" w="1401640">
                  <a:moveTo>
                    <a:pt x="106057" y="0"/>
                  </a:moveTo>
                  <a:lnTo>
                    <a:pt x="1295582" y="0"/>
                  </a:lnTo>
                  <a:cubicBezTo>
                    <a:pt x="1323711" y="0"/>
                    <a:pt x="1350687" y="11174"/>
                    <a:pt x="1370576" y="31063"/>
                  </a:cubicBezTo>
                  <a:cubicBezTo>
                    <a:pt x="1390466" y="50953"/>
                    <a:pt x="1401640" y="77929"/>
                    <a:pt x="1401640" y="106057"/>
                  </a:cubicBezTo>
                  <a:lnTo>
                    <a:pt x="1401640" y="146033"/>
                  </a:lnTo>
                  <a:cubicBezTo>
                    <a:pt x="1401640" y="204607"/>
                    <a:pt x="1354156" y="252090"/>
                    <a:pt x="1295582" y="252090"/>
                  </a:cubicBezTo>
                  <a:lnTo>
                    <a:pt x="106057" y="252090"/>
                  </a:lnTo>
                  <a:cubicBezTo>
                    <a:pt x="77929" y="252090"/>
                    <a:pt x="50953" y="240917"/>
                    <a:pt x="31063" y="221027"/>
                  </a:cubicBezTo>
                  <a:cubicBezTo>
                    <a:pt x="11174" y="201137"/>
                    <a:pt x="0" y="174161"/>
                    <a:pt x="0" y="146033"/>
                  </a:cubicBezTo>
                  <a:lnTo>
                    <a:pt x="0" y="106057"/>
                  </a:lnTo>
                  <a:cubicBezTo>
                    <a:pt x="0" y="47483"/>
                    <a:pt x="47483" y="0"/>
                    <a:pt x="106057" y="0"/>
                  </a:cubicBezTo>
                  <a:close/>
                </a:path>
              </a:pathLst>
            </a:custGeom>
            <a:solidFill>
              <a:srgbClr val="0063C2"/>
            </a:solidFill>
          </p:spPr>
        </p:sp>
        <p:sp>
          <p:nvSpPr>
            <p:cNvPr name="TextBox 4" id="4"/>
            <p:cNvSpPr txBox="true"/>
            <p:nvPr/>
          </p:nvSpPr>
          <p:spPr>
            <a:xfrm>
              <a:off x="0" y="-38100"/>
              <a:ext cx="1401640" cy="29019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23147" y="595789"/>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079890" y="440286"/>
            <a:ext cx="9848900" cy="7600606"/>
            <a:chOff x="0" y="0"/>
            <a:chExt cx="2593949" cy="2001806"/>
          </a:xfrm>
        </p:grpSpPr>
        <p:sp>
          <p:nvSpPr>
            <p:cNvPr name="Freeform 7" id="7"/>
            <p:cNvSpPr/>
            <p:nvPr/>
          </p:nvSpPr>
          <p:spPr>
            <a:xfrm flipH="false" flipV="false" rot="0">
              <a:off x="0" y="0"/>
              <a:ext cx="2593949" cy="2001806"/>
            </a:xfrm>
            <a:custGeom>
              <a:avLst/>
              <a:gdLst/>
              <a:ahLst/>
              <a:cxnLst/>
              <a:rect r="r" b="b" t="t" l="l"/>
              <a:pathLst>
                <a:path h="2001806" w="2593949">
                  <a:moveTo>
                    <a:pt x="28299" y="0"/>
                  </a:moveTo>
                  <a:lnTo>
                    <a:pt x="2565650" y="0"/>
                  </a:lnTo>
                  <a:cubicBezTo>
                    <a:pt x="2581279" y="0"/>
                    <a:pt x="2593949" y="12670"/>
                    <a:pt x="2593949" y="28299"/>
                  </a:cubicBezTo>
                  <a:lnTo>
                    <a:pt x="2593949" y="1973507"/>
                  </a:lnTo>
                  <a:cubicBezTo>
                    <a:pt x="2593949" y="1981012"/>
                    <a:pt x="2590967" y="1988210"/>
                    <a:pt x="2585660" y="1993517"/>
                  </a:cubicBezTo>
                  <a:cubicBezTo>
                    <a:pt x="2580353" y="1998824"/>
                    <a:pt x="2573156" y="2001806"/>
                    <a:pt x="2565650" y="2001806"/>
                  </a:cubicBezTo>
                  <a:lnTo>
                    <a:pt x="28299" y="2001806"/>
                  </a:lnTo>
                  <a:cubicBezTo>
                    <a:pt x="20793" y="2001806"/>
                    <a:pt x="13595" y="1998824"/>
                    <a:pt x="8288" y="1993517"/>
                  </a:cubicBezTo>
                  <a:cubicBezTo>
                    <a:pt x="2981" y="1988210"/>
                    <a:pt x="0" y="1981012"/>
                    <a:pt x="0" y="1973507"/>
                  </a:cubicBezTo>
                  <a:lnTo>
                    <a:pt x="0" y="28299"/>
                  </a:lnTo>
                  <a:cubicBezTo>
                    <a:pt x="0" y="20793"/>
                    <a:pt x="2981" y="13595"/>
                    <a:pt x="8288" y="8288"/>
                  </a:cubicBezTo>
                  <a:cubicBezTo>
                    <a:pt x="13595" y="2981"/>
                    <a:pt x="20793" y="0"/>
                    <a:pt x="28299" y="0"/>
                  </a:cubicBezTo>
                  <a:close/>
                </a:path>
              </a:pathLst>
            </a:custGeom>
            <a:solidFill>
              <a:srgbClr val="0063C2"/>
            </a:solidFill>
          </p:spPr>
        </p:sp>
        <p:sp>
          <p:nvSpPr>
            <p:cNvPr name="TextBox 8" id="8"/>
            <p:cNvSpPr txBox="true"/>
            <p:nvPr/>
          </p:nvSpPr>
          <p:spPr>
            <a:xfrm>
              <a:off x="0" y="9525"/>
              <a:ext cx="2593949" cy="1992281"/>
            </a:xfrm>
            <a:prstGeom prst="rect">
              <a:avLst/>
            </a:prstGeom>
          </p:spPr>
          <p:txBody>
            <a:bodyPr anchor="ctr" rtlCol="false" tIns="50800" lIns="50800" bIns="50800" rIns="50800"/>
            <a:lstStyle/>
            <a:p>
              <a:pPr algn="ctr">
                <a:lnSpc>
                  <a:spcPts val="2372"/>
                </a:lnSpc>
              </a:pPr>
            </a:p>
          </p:txBody>
        </p:sp>
      </p:grpSp>
      <p:grpSp>
        <p:nvGrpSpPr>
          <p:cNvPr name="Group 9" id="9"/>
          <p:cNvGrpSpPr/>
          <p:nvPr/>
        </p:nvGrpSpPr>
        <p:grpSpPr>
          <a:xfrm rot="0">
            <a:off x="243894" y="1352569"/>
            <a:ext cx="7252732" cy="7581862"/>
            <a:chOff x="0" y="0"/>
            <a:chExt cx="1762906" cy="1842907"/>
          </a:xfrm>
        </p:grpSpPr>
        <p:sp>
          <p:nvSpPr>
            <p:cNvPr name="Freeform 10" id="10"/>
            <p:cNvSpPr/>
            <p:nvPr/>
          </p:nvSpPr>
          <p:spPr>
            <a:xfrm flipH="false" flipV="false" rot="0">
              <a:off x="0" y="0"/>
              <a:ext cx="1762906" cy="1842907"/>
            </a:xfrm>
            <a:custGeom>
              <a:avLst/>
              <a:gdLst/>
              <a:ahLst/>
              <a:cxnLst/>
              <a:rect r="r" b="b" t="t" l="l"/>
              <a:pathLst>
                <a:path h="1842907" w="1762906">
                  <a:moveTo>
                    <a:pt x="40563" y="0"/>
                  </a:moveTo>
                  <a:lnTo>
                    <a:pt x="1722343" y="0"/>
                  </a:lnTo>
                  <a:cubicBezTo>
                    <a:pt x="1733101" y="0"/>
                    <a:pt x="1743419" y="4274"/>
                    <a:pt x="1751026" y="11881"/>
                  </a:cubicBezTo>
                  <a:cubicBezTo>
                    <a:pt x="1758633" y="19488"/>
                    <a:pt x="1762906" y="29805"/>
                    <a:pt x="1762906" y="40563"/>
                  </a:cubicBezTo>
                  <a:lnTo>
                    <a:pt x="1762906" y="1802344"/>
                  </a:lnTo>
                  <a:cubicBezTo>
                    <a:pt x="1762906" y="1813102"/>
                    <a:pt x="1758633" y="1823419"/>
                    <a:pt x="1751026" y="1831026"/>
                  </a:cubicBezTo>
                  <a:cubicBezTo>
                    <a:pt x="1743419" y="1838634"/>
                    <a:pt x="1733101" y="1842907"/>
                    <a:pt x="1722343" y="1842907"/>
                  </a:cubicBezTo>
                  <a:lnTo>
                    <a:pt x="40563" y="1842907"/>
                  </a:lnTo>
                  <a:cubicBezTo>
                    <a:pt x="29805" y="1842907"/>
                    <a:pt x="19488" y="1838634"/>
                    <a:pt x="11881" y="1831026"/>
                  </a:cubicBezTo>
                  <a:cubicBezTo>
                    <a:pt x="4274" y="1823419"/>
                    <a:pt x="0" y="1813102"/>
                    <a:pt x="0" y="1802344"/>
                  </a:cubicBezTo>
                  <a:lnTo>
                    <a:pt x="0" y="40563"/>
                  </a:lnTo>
                  <a:cubicBezTo>
                    <a:pt x="0" y="29805"/>
                    <a:pt x="4274" y="19488"/>
                    <a:pt x="11881" y="11881"/>
                  </a:cubicBezTo>
                  <a:cubicBezTo>
                    <a:pt x="19488" y="4274"/>
                    <a:pt x="29805" y="0"/>
                    <a:pt x="40563" y="0"/>
                  </a:cubicBezTo>
                  <a:close/>
                </a:path>
              </a:pathLst>
            </a:custGeom>
            <a:blipFill>
              <a:blip r:embed="rId4"/>
              <a:stretch>
                <a:fillRect l="-49130" t="0" r="-49130" b="0"/>
              </a:stretch>
            </a:blipFill>
          </p:spPr>
        </p:sp>
      </p:grpSp>
      <p:sp>
        <p:nvSpPr>
          <p:cNvPr name="Freeform 11" id="11"/>
          <p:cNvSpPr/>
          <p:nvPr/>
        </p:nvSpPr>
        <p:spPr>
          <a:xfrm flipH="false" flipV="false" rot="0">
            <a:off x="8104779" y="956955"/>
            <a:ext cx="2882102" cy="1501095"/>
          </a:xfrm>
          <a:custGeom>
            <a:avLst/>
            <a:gdLst/>
            <a:ahLst/>
            <a:cxnLst/>
            <a:rect r="r" b="b" t="t" l="l"/>
            <a:pathLst>
              <a:path h="1501095" w="2882102">
                <a:moveTo>
                  <a:pt x="0" y="0"/>
                </a:moveTo>
                <a:lnTo>
                  <a:pt x="2882102" y="0"/>
                </a:lnTo>
                <a:lnTo>
                  <a:pt x="2882102" y="1501095"/>
                </a:lnTo>
                <a:lnTo>
                  <a:pt x="0" y="15010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378151" y="683585"/>
            <a:ext cx="2036607" cy="235680"/>
          </a:xfrm>
          <a:prstGeom prst="rect">
            <a:avLst/>
          </a:prstGeom>
        </p:spPr>
        <p:txBody>
          <a:bodyPr anchor="t" rtlCol="false" tIns="0" lIns="0" bIns="0" rIns="0">
            <a:spAutoFit/>
          </a:bodyPr>
          <a:lstStyle/>
          <a:p>
            <a:pPr algn="l">
              <a:lnSpc>
                <a:spcPts val="1925"/>
              </a:lnSpc>
            </a:pPr>
            <a:r>
              <a:rPr lang="en-US" b="true" sz="1703" spc="27">
                <a:solidFill>
                  <a:srgbClr val="F8FCFF"/>
                </a:solidFill>
                <a:latin typeface="Open Sauce Bold"/>
                <a:ea typeface="Open Sauce Bold"/>
                <a:cs typeface="Open Sauce Bold"/>
                <a:sym typeface="Open Sauce Bold"/>
              </a:rPr>
              <a:t>ATTRISENSE</a:t>
            </a:r>
          </a:p>
        </p:txBody>
      </p:sp>
      <p:sp>
        <p:nvSpPr>
          <p:cNvPr name="TextBox 13" id="13"/>
          <p:cNvSpPr txBox="true"/>
          <p:nvPr/>
        </p:nvSpPr>
        <p:spPr>
          <a:xfrm rot="0">
            <a:off x="11866890" y="702635"/>
            <a:ext cx="5392410" cy="2613208"/>
          </a:xfrm>
          <a:prstGeom prst="rect">
            <a:avLst/>
          </a:prstGeom>
        </p:spPr>
        <p:txBody>
          <a:bodyPr anchor="t" rtlCol="false" tIns="0" lIns="0" bIns="0" rIns="0">
            <a:spAutoFit/>
          </a:bodyPr>
          <a:lstStyle/>
          <a:p>
            <a:pPr algn="l">
              <a:lnSpc>
                <a:spcPts val="6825"/>
              </a:lnSpc>
            </a:pPr>
            <a:r>
              <a:rPr lang="en-US" b="true" sz="6040" spc="-223">
                <a:solidFill>
                  <a:srgbClr val="F8FCFF"/>
                </a:solidFill>
                <a:latin typeface="Open Sauce Bold"/>
                <a:ea typeface="Open Sauce Bold"/>
                <a:cs typeface="Open Sauce Bold"/>
                <a:sym typeface="Open Sauce Bold"/>
              </a:rPr>
              <a:t>PROBLEM STATEMENT &amp; MOTIVATION</a:t>
            </a:r>
          </a:p>
        </p:txBody>
      </p:sp>
      <p:sp>
        <p:nvSpPr>
          <p:cNvPr name="TextBox 14" id="14"/>
          <p:cNvSpPr txBox="true"/>
          <p:nvPr/>
        </p:nvSpPr>
        <p:spPr>
          <a:xfrm rot="0">
            <a:off x="9144000" y="3471676"/>
            <a:ext cx="7062149" cy="4569217"/>
          </a:xfrm>
          <a:prstGeom prst="rect">
            <a:avLst/>
          </a:prstGeom>
        </p:spPr>
        <p:txBody>
          <a:bodyPr anchor="t" rtlCol="false" tIns="0" lIns="0" bIns="0" rIns="0">
            <a:spAutoFit/>
          </a:bodyPr>
          <a:lstStyle/>
          <a:p>
            <a:pPr algn="l">
              <a:lnSpc>
                <a:spcPts val="2593"/>
              </a:lnSpc>
            </a:pPr>
            <a:r>
              <a:rPr lang="en-US" sz="1852" spc="29">
                <a:solidFill>
                  <a:srgbClr val="F8FCFF"/>
                </a:solidFill>
                <a:latin typeface="Open Sauce"/>
                <a:ea typeface="Open Sauce"/>
                <a:cs typeface="Open Sauce"/>
                <a:sym typeface="Open Sauce"/>
              </a:rPr>
              <a:t>Problem Statement</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Employee attrition leads to increased hiring costs and productivity loss.</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Traditional HR methods rely on manual analysis and historical reports.</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Identifying high-risk employees proactively is difficult.</a:t>
            </a:r>
          </a:p>
          <a:p>
            <a:pPr algn="l">
              <a:lnSpc>
                <a:spcPts val="2593"/>
              </a:lnSpc>
            </a:pPr>
          </a:p>
          <a:p>
            <a:pPr algn="l">
              <a:lnSpc>
                <a:spcPts val="2593"/>
              </a:lnSpc>
            </a:pPr>
          </a:p>
          <a:p>
            <a:pPr algn="l">
              <a:lnSpc>
                <a:spcPts val="2593"/>
              </a:lnSpc>
            </a:pPr>
            <a:r>
              <a:rPr lang="en-US" sz="1852" spc="29">
                <a:solidFill>
                  <a:srgbClr val="F8FCFF"/>
                </a:solidFill>
                <a:latin typeface="Open Sauce"/>
                <a:ea typeface="Open Sauce"/>
                <a:cs typeface="Open Sauce"/>
                <a:sym typeface="Open Sauce"/>
              </a:rPr>
              <a:t>My Solution</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AI-based employee attrition prediction.</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Interactive HR analytics dashboard.</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Explainable AI using SHAP values.</a:t>
            </a:r>
          </a:p>
          <a:p>
            <a:pPr algn="l" marL="399953" indent="-199976" lvl="1">
              <a:lnSpc>
                <a:spcPts val="2593"/>
              </a:lnSpc>
              <a:buFont typeface="Arial"/>
              <a:buChar char="•"/>
            </a:pPr>
            <a:r>
              <a:rPr lang="en-US" sz="1852" spc="29">
                <a:solidFill>
                  <a:srgbClr val="F8FCFF"/>
                </a:solidFill>
                <a:latin typeface="Open Sauce"/>
                <a:ea typeface="Open Sauce"/>
                <a:cs typeface="Open Sauce"/>
                <a:sym typeface="Open Sauce"/>
              </a:rPr>
              <a:t>Data-driven decision support for HR teams.</a:t>
            </a:r>
          </a:p>
          <a:p>
            <a:pPr algn="l">
              <a:lnSpc>
                <a:spcPts val="2593"/>
              </a:lnSpc>
            </a:pPr>
          </a:p>
        </p:txBody>
      </p:sp>
      <p:sp>
        <p:nvSpPr>
          <p:cNvPr name="TextBox 15" id="15"/>
          <p:cNvSpPr txBox="true"/>
          <p:nvPr/>
        </p:nvSpPr>
        <p:spPr>
          <a:xfrm rot="0">
            <a:off x="8429421" y="8278853"/>
            <a:ext cx="7914903" cy="2182140"/>
          </a:xfrm>
          <a:prstGeom prst="rect">
            <a:avLst/>
          </a:prstGeom>
        </p:spPr>
        <p:txBody>
          <a:bodyPr anchor="t" rtlCol="false" tIns="0" lIns="0" bIns="0" rIns="0">
            <a:spAutoFit/>
          </a:bodyPr>
          <a:lstStyle/>
          <a:p>
            <a:pPr algn="l">
              <a:lnSpc>
                <a:spcPts val="2906"/>
              </a:lnSpc>
            </a:pPr>
            <a:r>
              <a:rPr lang="en-US" sz="2076" spc="33">
                <a:solidFill>
                  <a:srgbClr val="0A0C11"/>
                </a:solidFill>
                <a:latin typeface="Open Sauce"/>
                <a:ea typeface="Open Sauce"/>
                <a:cs typeface="Open Sauce"/>
                <a:sym typeface="Open Sauce"/>
              </a:rPr>
              <a:t>Project Goals</a:t>
            </a:r>
          </a:p>
          <a:p>
            <a:pPr algn="l">
              <a:lnSpc>
                <a:spcPts val="2906"/>
              </a:lnSpc>
            </a:pPr>
            <a:r>
              <a:rPr lang="en-US" sz="2076" spc="33">
                <a:solidFill>
                  <a:srgbClr val="0A0C11"/>
                </a:solidFill>
                <a:latin typeface="Open Sauce"/>
                <a:ea typeface="Open Sauce"/>
                <a:cs typeface="Open Sauce"/>
                <a:sym typeface="Open Sauce"/>
              </a:rPr>
              <a:t>✔ Predict employee attrition</a:t>
            </a:r>
          </a:p>
          <a:p>
            <a:pPr algn="l">
              <a:lnSpc>
                <a:spcPts val="2906"/>
              </a:lnSpc>
            </a:pPr>
            <a:r>
              <a:rPr lang="en-US" sz="2076" spc="33">
                <a:solidFill>
                  <a:srgbClr val="0A0C11"/>
                </a:solidFill>
                <a:latin typeface="Open Sauce"/>
                <a:ea typeface="Open Sauce"/>
                <a:cs typeface="Open Sauce"/>
                <a:sym typeface="Open Sauce"/>
              </a:rPr>
              <a:t>✔ Analyze workforce trends</a:t>
            </a:r>
          </a:p>
          <a:p>
            <a:pPr algn="l">
              <a:lnSpc>
                <a:spcPts val="2906"/>
              </a:lnSpc>
            </a:pPr>
            <a:r>
              <a:rPr lang="en-US" sz="2076" spc="33">
                <a:solidFill>
                  <a:srgbClr val="0A0C11"/>
                </a:solidFill>
                <a:latin typeface="Open Sauce"/>
                <a:ea typeface="Open Sauce"/>
                <a:cs typeface="Open Sauce"/>
                <a:sym typeface="Open Sauce"/>
              </a:rPr>
              <a:t>✔ Explain model predictions using SHAP</a:t>
            </a:r>
          </a:p>
          <a:p>
            <a:pPr algn="l">
              <a:lnSpc>
                <a:spcPts val="2906"/>
              </a:lnSpc>
            </a:pPr>
            <a:r>
              <a:rPr lang="en-US" sz="2076" spc="33">
                <a:solidFill>
                  <a:srgbClr val="0A0C11"/>
                </a:solidFill>
                <a:latin typeface="Open Sauce"/>
                <a:ea typeface="Open Sauce"/>
                <a:cs typeface="Open Sauce"/>
                <a:sym typeface="Open Sauce"/>
              </a:rPr>
              <a:t>✔ Support HR decision-making</a:t>
            </a:r>
          </a:p>
          <a:p>
            <a:pPr algn="l">
              <a:lnSpc>
                <a:spcPts val="2906"/>
              </a:lnSpc>
            </a:pPr>
          </a:p>
        </p:txBody>
      </p:sp>
      <p:sp>
        <p:nvSpPr>
          <p:cNvPr name="TextBox 16" id="16"/>
          <p:cNvSpPr txBox="true"/>
          <p:nvPr/>
        </p:nvSpPr>
        <p:spPr>
          <a:xfrm rot="0">
            <a:off x="1780257" y="8462372"/>
            <a:ext cx="3992662" cy="1824628"/>
          </a:xfrm>
          <a:prstGeom prst="rect">
            <a:avLst/>
          </a:prstGeom>
        </p:spPr>
        <p:txBody>
          <a:bodyPr anchor="t" rtlCol="false" tIns="0" lIns="0" bIns="0" rIns="0">
            <a:spAutoFit/>
          </a:bodyPr>
          <a:lstStyle/>
          <a:p>
            <a:pPr algn="ctr">
              <a:lnSpc>
                <a:spcPts val="2918"/>
              </a:lnSpc>
            </a:pPr>
            <a:r>
              <a:rPr lang="en-US" sz="2084">
                <a:solidFill>
                  <a:srgbClr val="000000"/>
                </a:solidFill>
                <a:latin typeface="Canva Sans"/>
                <a:ea typeface="Canva Sans"/>
                <a:cs typeface="Canva Sans"/>
                <a:sym typeface="Canva Sans"/>
              </a:rPr>
              <a:t>IBM HR </a:t>
            </a:r>
            <a:r>
              <a:rPr lang="en-US" sz="2084">
                <a:solidFill>
                  <a:srgbClr val="000000"/>
                </a:solidFill>
                <a:latin typeface="Canva Sans"/>
                <a:ea typeface="Canva Sans"/>
                <a:cs typeface="Canva Sans"/>
                <a:sym typeface="Canva Sans"/>
              </a:rPr>
              <a:t>Analytics Dataset</a:t>
            </a:r>
          </a:p>
          <a:p>
            <a:pPr algn="ctr" marL="450038" indent="-225019" lvl="1">
              <a:lnSpc>
                <a:spcPts val="2918"/>
              </a:lnSpc>
              <a:buFont typeface="Arial"/>
              <a:buChar char="•"/>
            </a:pPr>
            <a:r>
              <a:rPr lang="en-US" sz="2084">
                <a:solidFill>
                  <a:srgbClr val="000000"/>
                </a:solidFill>
                <a:latin typeface="Canva Sans"/>
                <a:ea typeface="Canva Sans"/>
                <a:cs typeface="Canva Sans"/>
                <a:sym typeface="Canva Sans"/>
              </a:rPr>
              <a:t>1,470 Employees</a:t>
            </a:r>
          </a:p>
          <a:p>
            <a:pPr algn="ctr" marL="450038" indent="-225019" lvl="1">
              <a:lnSpc>
                <a:spcPts val="2918"/>
              </a:lnSpc>
              <a:buFont typeface="Arial"/>
              <a:buChar char="•"/>
            </a:pPr>
            <a:r>
              <a:rPr lang="en-US" sz="2084">
                <a:solidFill>
                  <a:srgbClr val="000000"/>
                </a:solidFill>
                <a:latin typeface="Canva Sans"/>
                <a:ea typeface="Canva Sans"/>
                <a:cs typeface="Canva Sans"/>
                <a:sym typeface="Canva Sans"/>
              </a:rPr>
              <a:t>35 Features</a:t>
            </a:r>
          </a:p>
          <a:p>
            <a:pPr algn="ctr" marL="450038" indent="-225019" lvl="1">
              <a:lnSpc>
                <a:spcPts val="2918"/>
              </a:lnSpc>
              <a:buFont typeface="Arial"/>
              <a:buChar char="•"/>
            </a:pPr>
            <a:r>
              <a:rPr lang="en-US" sz="2084">
                <a:solidFill>
                  <a:srgbClr val="000000"/>
                </a:solidFill>
                <a:latin typeface="Canva Sans"/>
                <a:ea typeface="Canva Sans"/>
                <a:cs typeface="Canva Sans"/>
                <a:sym typeface="Canva Sans"/>
              </a:rPr>
              <a:t>16.1% Attrition Rate</a:t>
            </a:r>
          </a:p>
          <a:p>
            <a:pPr algn="ctr">
              <a:lnSpc>
                <a:spcPts val="2918"/>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61506" y="447186"/>
            <a:ext cx="3081706" cy="691323"/>
            <a:chOff x="0" y="0"/>
            <a:chExt cx="1160243" cy="260279"/>
          </a:xfrm>
        </p:grpSpPr>
        <p:sp>
          <p:nvSpPr>
            <p:cNvPr name="Freeform 3" id="3"/>
            <p:cNvSpPr/>
            <p:nvPr/>
          </p:nvSpPr>
          <p:spPr>
            <a:xfrm flipH="false" flipV="false" rot="0">
              <a:off x="0" y="0"/>
              <a:ext cx="1160243" cy="260279"/>
            </a:xfrm>
            <a:custGeom>
              <a:avLst/>
              <a:gdLst/>
              <a:ahLst/>
              <a:cxnLst/>
              <a:rect r="r" b="b" t="t" l="l"/>
              <a:pathLst>
                <a:path h="260279" w="1160243">
                  <a:moveTo>
                    <a:pt x="128123" y="0"/>
                  </a:moveTo>
                  <a:lnTo>
                    <a:pt x="1032119" y="0"/>
                  </a:lnTo>
                  <a:cubicBezTo>
                    <a:pt x="1102880" y="0"/>
                    <a:pt x="1160243" y="57363"/>
                    <a:pt x="1160243" y="128123"/>
                  </a:cubicBezTo>
                  <a:lnTo>
                    <a:pt x="1160243" y="132156"/>
                  </a:lnTo>
                  <a:cubicBezTo>
                    <a:pt x="1160243" y="166136"/>
                    <a:pt x="1146744" y="198725"/>
                    <a:pt x="1122716" y="222752"/>
                  </a:cubicBezTo>
                  <a:cubicBezTo>
                    <a:pt x="1098688" y="246780"/>
                    <a:pt x="1066100" y="260279"/>
                    <a:pt x="1032119" y="260279"/>
                  </a:cubicBezTo>
                  <a:lnTo>
                    <a:pt x="128123" y="260279"/>
                  </a:lnTo>
                  <a:cubicBezTo>
                    <a:pt x="94143" y="260279"/>
                    <a:pt x="61554" y="246780"/>
                    <a:pt x="37526" y="222752"/>
                  </a:cubicBezTo>
                  <a:cubicBezTo>
                    <a:pt x="13499" y="198725"/>
                    <a:pt x="0" y="166136"/>
                    <a:pt x="0" y="132156"/>
                  </a:cubicBezTo>
                  <a:lnTo>
                    <a:pt x="0" y="128123"/>
                  </a:lnTo>
                  <a:cubicBezTo>
                    <a:pt x="0" y="94143"/>
                    <a:pt x="13499" y="61554"/>
                    <a:pt x="37526" y="37526"/>
                  </a:cubicBezTo>
                  <a:cubicBezTo>
                    <a:pt x="61554" y="13499"/>
                    <a:pt x="94143" y="0"/>
                    <a:pt x="128123" y="0"/>
                  </a:cubicBezTo>
                  <a:close/>
                </a:path>
              </a:pathLst>
            </a:custGeom>
            <a:solidFill>
              <a:srgbClr val="0063C2"/>
            </a:solidFill>
          </p:spPr>
        </p:sp>
        <p:sp>
          <p:nvSpPr>
            <p:cNvPr name="TextBox 4" id="4"/>
            <p:cNvSpPr txBox="true"/>
            <p:nvPr/>
          </p:nvSpPr>
          <p:spPr>
            <a:xfrm>
              <a:off x="0" y="-38100"/>
              <a:ext cx="1160243" cy="29837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65849" y="614292"/>
            <a:ext cx="414408" cy="414408"/>
          </a:xfrm>
          <a:custGeom>
            <a:avLst/>
            <a:gdLst/>
            <a:ahLst/>
            <a:cxnLst/>
            <a:rect r="r" b="b" t="t" l="l"/>
            <a:pathLst>
              <a:path h="414408" w="414408">
                <a:moveTo>
                  <a:pt x="0" y="0"/>
                </a:moveTo>
                <a:lnTo>
                  <a:pt x="414408" y="0"/>
                </a:lnTo>
                <a:lnTo>
                  <a:pt x="414408" y="414408"/>
                </a:lnTo>
                <a:lnTo>
                  <a:pt x="0" y="4144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16184" y="6270656"/>
            <a:ext cx="7837843" cy="0"/>
          </a:xfrm>
          <a:prstGeom prst="line">
            <a:avLst/>
          </a:prstGeom>
          <a:ln cap="flat" w="38100">
            <a:solidFill>
              <a:srgbClr val="00172C"/>
            </a:solidFill>
            <a:prstDash val="solid"/>
            <a:headEnd type="none" len="sm" w="sm"/>
            <a:tailEnd type="none" len="sm" w="sm"/>
          </a:ln>
        </p:spPr>
      </p:sp>
      <p:sp>
        <p:nvSpPr>
          <p:cNvPr name="Freeform 7" id="7"/>
          <p:cNvSpPr/>
          <p:nvPr/>
        </p:nvSpPr>
        <p:spPr>
          <a:xfrm flipH="false" flipV="false" rot="0">
            <a:off x="8003593" y="5638196"/>
            <a:ext cx="436851" cy="436851"/>
          </a:xfrm>
          <a:custGeom>
            <a:avLst/>
            <a:gdLst/>
            <a:ahLst/>
            <a:cxnLst/>
            <a:rect r="r" b="b" t="t" l="l"/>
            <a:pathLst>
              <a:path h="436851" w="436851">
                <a:moveTo>
                  <a:pt x="0" y="0"/>
                </a:moveTo>
                <a:lnTo>
                  <a:pt x="436851" y="0"/>
                </a:lnTo>
                <a:lnTo>
                  <a:pt x="436851" y="436851"/>
                </a:lnTo>
                <a:lnTo>
                  <a:pt x="0" y="436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1016184" y="7160291"/>
            <a:ext cx="7837843" cy="0"/>
          </a:xfrm>
          <a:prstGeom prst="line">
            <a:avLst/>
          </a:prstGeom>
          <a:ln cap="flat" w="38100">
            <a:solidFill>
              <a:srgbClr val="00172C"/>
            </a:solidFill>
            <a:prstDash val="solid"/>
            <a:headEnd type="none" len="sm" w="sm"/>
            <a:tailEnd type="none" len="sm" w="sm"/>
          </a:ln>
        </p:spPr>
      </p:sp>
      <p:sp>
        <p:nvSpPr>
          <p:cNvPr name="Freeform 9" id="9"/>
          <p:cNvSpPr/>
          <p:nvPr/>
        </p:nvSpPr>
        <p:spPr>
          <a:xfrm flipH="false" flipV="false" rot="0">
            <a:off x="8003593" y="6527831"/>
            <a:ext cx="436851" cy="436851"/>
          </a:xfrm>
          <a:custGeom>
            <a:avLst/>
            <a:gdLst/>
            <a:ahLst/>
            <a:cxnLst/>
            <a:rect r="r" b="b" t="t" l="l"/>
            <a:pathLst>
              <a:path h="436851" w="436851">
                <a:moveTo>
                  <a:pt x="0" y="0"/>
                </a:moveTo>
                <a:lnTo>
                  <a:pt x="436851" y="0"/>
                </a:lnTo>
                <a:lnTo>
                  <a:pt x="436851" y="436851"/>
                </a:lnTo>
                <a:lnTo>
                  <a:pt x="0" y="436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a:off x="1016184" y="8049926"/>
            <a:ext cx="7837843" cy="0"/>
          </a:xfrm>
          <a:prstGeom prst="line">
            <a:avLst/>
          </a:prstGeom>
          <a:ln cap="flat" w="38100">
            <a:solidFill>
              <a:srgbClr val="00172C"/>
            </a:solidFill>
            <a:prstDash val="solid"/>
            <a:headEnd type="none" len="sm" w="sm"/>
            <a:tailEnd type="none" len="sm" w="sm"/>
          </a:ln>
        </p:spPr>
      </p:sp>
      <p:sp>
        <p:nvSpPr>
          <p:cNvPr name="Freeform 11" id="11"/>
          <p:cNvSpPr/>
          <p:nvPr/>
        </p:nvSpPr>
        <p:spPr>
          <a:xfrm flipH="false" flipV="false" rot="0">
            <a:off x="8003593" y="7417466"/>
            <a:ext cx="436851" cy="436851"/>
          </a:xfrm>
          <a:custGeom>
            <a:avLst/>
            <a:gdLst/>
            <a:ahLst/>
            <a:cxnLst/>
            <a:rect r="r" b="b" t="t" l="l"/>
            <a:pathLst>
              <a:path h="436851" w="436851">
                <a:moveTo>
                  <a:pt x="0" y="0"/>
                </a:moveTo>
                <a:lnTo>
                  <a:pt x="436851" y="0"/>
                </a:lnTo>
                <a:lnTo>
                  <a:pt x="436851" y="436851"/>
                </a:lnTo>
                <a:lnTo>
                  <a:pt x="0" y="436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a:off x="1016184" y="8939561"/>
            <a:ext cx="7837843" cy="0"/>
          </a:xfrm>
          <a:prstGeom prst="line">
            <a:avLst/>
          </a:prstGeom>
          <a:ln cap="flat" w="38100">
            <a:solidFill>
              <a:srgbClr val="00172C"/>
            </a:solidFill>
            <a:prstDash val="solid"/>
            <a:headEnd type="none" len="sm" w="sm"/>
            <a:tailEnd type="none" len="sm" w="sm"/>
          </a:ln>
        </p:spPr>
      </p:sp>
      <p:sp>
        <p:nvSpPr>
          <p:cNvPr name="Freeform 13" id="13"/>
          <p:cNvSpPr/>
          <p:nvPr/>
        </p:nvSpPr>
        <p:spPr>
          <a:xfrm flipH="false" flipV="false" rot="0">
            <a:off x="8003593" y="8307101"/>
            <a:ext cx="436851" cy="436851"/>
          </a:xfrm>
          <a:custGeom>
            <a:avLst/>
            <a:gdLst/>
            <a:ahLst/>
            <a:cxnLst/>
            <a:rect r="r" b="b" t="t" l="l"/>
            <a:pathLst>
              <a:path h="436851" w="436851">
                <a:moveTo>
                  <a:pt x="0" y="0"/>
                </a:moveTo>
                <a:lnTo>
                  <a:pt x="436851" y="0"/>
                </a:lnTo>
                <a:lnTo>
                  <a:pt x="436851" y="436851"/>
                </a:lnTo>
                <a:lnTo>
                  <a:pt x="0" y="436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0771671" y="5272659"/>
            <a:ext cx="7061301" cy="4783398"/>
            <a:chOff x="0" y="0"/>
            <a:chExt cx="1262856" cy="855471"/>
          </a:xfrm>
        </p:grpSpPr>
        <p:sp>
          <p:nvSpPr>
            <p:cNvPr name="Freeform 15" id="15"/>
            <p:cNvSpPr/>
            <p:nvPr/>
          </p:nvSpPr>
          <p:spPr>
            <a:xfrm flipH="false" flipV="false" rot="0">
              <a:off x="0" y="0"/>
              <a:ext cx="1262856" cy="855471"/>
            </a:xfrm>
            <a:custGeom>
              <a:avLst/>
              <a:gdLst/>
              <a:ahLst/>
              <a:cxnLst/>
              <a:rect r="r" b="b" t="t" l="l"/>
              <a:pathLst>
                <a:path h="855471" w="1262856">
                  <a:moveTo>
                    <a:pt x="41663" y="0"/>
                  </a:moveTo>
                  <a:lnTo>
                    <a:pt x="1221193" y="0"/>
                  </a:lnTo>
                  <a:cubicBezTo>
                    <a:pt x="1244203" y="0"/>
                    <a:pt x="1262856" y="18653"/>
                    <a:pt x="1262856" y="41663"/>
                  </a:cubicBezTo>
                  <a:lnTo>
                    <a:pt x="1262856" y="813809"/>
                  </a:lnTo>
                  <a:cubicBezTo>
                    <a:pt x="1262856" y="824858"/>
                    <a:pt x="1258466" y="835455"/>
                    <a:pt x="1250653" y="843269"/>
                  </a:cubicBezTo>
                  <a:cubicBezTo>
                    <a:pt x="1242840" y="851082"/>
                    <a:pt x="1232243" y="855471"/>
                    <a:pt x="1221193" y="855471"/>
                  </a:cubicBezTo>
                  <a:lnTo>
                    <a:pt x="41663" y="855471"/>
                  </a:lnTo>
                  <a:cubicBezTo>
                    <a:pt x="30613" y="855471"/>
                    <a:pt x="20016" y="851082"/>
                    <a:pt x="12203" y="843269"/>
                  </a:cubicBezTo>
                  <a:cubicBezTo>
                    <a:pt x="4389" y="835455"/>
                    <a:pt x="0" y="824858"/>
                    <a:pt x="0" y="813809"/>
                  </a:cubicBezTo>
                  <a:lnTo>
                    <a:pt x="0" y="41663"/>
                  </a:lnTo>
                  <a:cubicBezTo>
                    <a:pt x="0" y="30613"/>
                    <a:pt x="4389" y="20016"/>
                    <a:pt x="12203" y="12203"/>
                  </a:cubicBezTo>
                  <a:cubicBezTo>
                    <a:pt x="20016" y="4389"/>
                    <a:pt x="30613" y="0"/>
                    <a:pt x="41663" y="0"/>
                  </a:cubicBezTo>
                  <a:close/>
                </a:path>
              </a:pathLst>
            </a:custGeom>
            <a:blipFill>
              <a:blip r:embed="rId6"/>
              <a:stretch>
                <a:fillRect l="-14459" t="0" r="-14459" b="0"/>
              </a:stretch>
            </a:blipFill>
          </p:spPr>
        </p:sp>
      </p:grpSp>
      <p:grpSp>
        <p:nvGrpSpPr>
          <p:cNvPr name="Group 16" id="16"/>
          <p:cNvGrpSpPr/>
          <p:nvPr/>
        </p:nvGrpSpPr>
        <p:grpSpPr>
          <a:xfrm rot="0">
            <a:off x="12062132" y="233756"/>
            <a:ext cx="5362100" cy="4604194"/>
            <a:chOff x="0" y="0"/>
            <a:chExt cx="996292" cy="855471"/>
          </a:xfrm>
        </p:grpSpPr>
        <p:sp>
          <p:nvSpPr>
            <p:cNvPr name="Freeform 17" id="17"/>
            <p:cNvSpPr/>
            <p:nvPr/>
          </p:nvSpPr>
          <p:spPr>
            <a:xfrm flipH="false" flipV="false" rot="0">
              <a:off x="0" y="0"/>
              <a:ext cx="996292" cy="855471"/>
            </a:xfrm>
            <a:custGeom>
              <a:avLst/>
              <a:gdLst/>
              <a:ahLst/>
              <a:cxnLst/>
              <a:rect r="r" b="b" t="t" l="l"/>
              <a:pathLst>
                <a:path h="855471" w="996292">
                  <a:moveTo>
                    <a:pt x="54865" y="0"/>
                  </a:moveTo>
                  <a:lnTo>
                    <a:pt x="941427" y="0"/>
                  </a:lnTo>
                  <a:cubicBezTo>
                    <a:pt x="971728" y="0"/>
                    <a:pt x="996292" y="24564"/>
                    <a:pt x="996292" y="54865"/>
                  </a:cubicBezTo>
                  <a:lnTo>
                    <a:pt x="996292" y="800606"/>
                  </a:lnTo>
                  <a:cubicBezTo>
                    <a:pt x="996292" y="830907"/>
                    <a:pt x="971728" y="855471"/>
                    <a:pt x="941427" y="855471"/>
                  </a:cubicBezTo>
                  <a:lnTo>
                    <a:pt x="54865" y="855471"/>
                  </a:lnTo>
                  <a:cubicBezTo>
                    <a:pt x="24564" y="855471"/>
                    <a:pt x="0" y="830907"/>
                    <a:pt x="0" y="800606"/>
                  </a:cubicBezTo>
                  <a:lnTo>
                    <a:pt x="0" y="54865"/>
                  </a:lnTo>
                  <a:cubicBezTo>
                    <a:pt x="0" y="24564"/>
                    <a:pt x="24564" y="0"/>
                    <a:pt x="54865" y="0"/>
                  </a:cubicBezTo>
                  <a:close/>
                </a:path>
              </a:pathLst>
            </a:custGeom>
            <a:blipFill>
              <a:blip r:embed="rId7"/>
              <a:stretch>
                <a:fillRect l="-31144" t="0" r="-31144" b="0"/>
              </a:stretch>
            </a:blipFill>
          </p:spPr>
        </p:sp>
      </p:grpSp>
      <p:sp>
        <p:nvSpPr>
          <p:cNvPr name="TextBox 18" id="18"/>
          <p:cNvSpPr txBox="true"/>
          <p:nvPr/>
        </p:nvSpPr>
        <p:spPr>
          <a:xfrm rot="0">
            <a:off x="1069280" y="1425194"/>
            <a:ext cx="7193318" cy="1847596"/>
          </a:xfrm>
          <a:prstGeom prst="rect">
            <a:avLst/>
          </a:prstGeom>
        </p:spPr>
        <p:txBody>
          <a:bodyPr anchor="t" rtlCol="false" tIns="0" lIns="0" bIns="0" rIns="0">
            <a:spAutoFit/>
          </a:bodyPr>
          <a:lstStyle/>
          <a:p>
            <a:pPr algn="l">
              <a:lnSpc>
                <a:spcPts val="7231"/>
              </a:lnSpc>
            </a:pPr>
            <a:r>
              <a:rPr lang="en-US" b="true" sz="6399" spc="-236">
                <a:solidFill>
                  <a:srgbClr val="00172C"/>
                </a:solidFill>
                <a:latin typeface="Open Sauce Bold"/>
                <a:ea typeface="Open Sauce Bold"/>
                <a:cs typeface="Open Sauce Bold"/>
                <a:sym typeface="Open Sauce Bold"/>
              </a:rPr>
              <a:t>PROJECT OVERVIEW</a:t>
            </a:r>
          </a:p>
        </p:txBody>
      </p:sp>
      <p:sp>
        <p:nvSpPr>
          <p:cNvPr name="TextBox 19" id="19"/>
          <p:cNvSpPr txBox="true"/>
          <p:nvPr/>
        </p:nvSpPr>
        <p:spPr>
          <a:xfrm rot="0">
            <a:off x="1069280" y="3317257"/>
            <a:ext cx="9580650" cy="1851660"/>
          </a:xfrm>
          <a:prstGeom prst="rect">
            <a:avLst/>
          </a:prstGeom>
        </p:spPr>
        <p:txBody>
          <a:bodyPr anchor="t" rtlCol="false" tIns="0" lIns="0" bIns="0" rIns="0">
            <a:spAutoFit/>
          </a:bodyPr>
          <a:lstStyle/>
          <a:p>
            <a:pPr algn="l">
              <a:lnSpc>
                <a:spcPts val="2940"/>
              </a:lnSpc>
            </a:pPr>
            <a:r>
              <a:rPr lang="en-US" sz="2100" spc="33">
                <a:solidFill>
                  <a:srgbClr val="00172C"/>
                </a:solidFill>
                <a:latin typeface="Open Sauce"/>
                <a:ea typeface="Open Sauce"/>
                <a:cs typeface="Open Sauce"/>
                <a:sym typeface="Open Sauce"/>
              </a:rPr>
              <a:t>AttriSense is an AI-powered HR analytics platform developed to predict employee attrition using machine learning. The system combines predictive analytics, interactive dashboards, and Explainable AI (SHAP) to help HR teams identify employees at risk and make data-driven retention decisions.</a:t>
            </a:r>
          </a:p>
        </p:txBody>
      </p:sp>
      <p:sp>
        <p:nvSpPr>
          <p:cNvPr name="TextBox 20" id="20"/>
          <p:cNvSpPr txBox="true"/>
          <p:nvPr/>
        </p:nvSpPr>
        <p:spPr>
          <a:xfrm rot="0">
            <a:off x="2154960" y="692563"/>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sp>
        <p:nvSpPr>
          <p:cNvPr name="TextBox 21" id="21"/>
          <p:cNvSpPr txBox="true"/>
          <p:nvPr/>
        </p:nvSpPr>
        <p:spPr>
          <a:xfrm rot="0">
            <a:off x="1069280" y="5464192"/>
            <a:ext cx="4232381" cy="737235"/>
          </a:xfrm>
          <a:prstGeom prst="rect">
            <a:avLst/>
          </a:prstGeom>
        </p:spPr>
        <p:txBody>
          <a:bodyPr anchor="t" rtlCol="false" tIns="0" lIns="0" bIns="0" rIns="0">
            <a:spAutoFit/>
          </a:bodyPr>
          <a:lstStyle/>
          <a:p>
            <a:pPr algn="l">
              <a:lnSpc>
                <a:spcPts val="2940"/>
              </a:lnSpc>
            </a:pPr>
            <a:r>
              <a:rPr lang="en-US" sz="2100" b="true">
                <a:solidFill>
                  <a:srgbClr val="0063C2"/>
                </a:solidFill>
                <a:latin typeface="Open Sauce Bold"/>
                <a:ea typeface="Open Sauce Bold"/>
                <a:cs typeface="Open Sauce Bold"/>
                <a:sym typeface="Open Sauce Bold"/>
              </a:rPr>
              <a:t>Predict employee attrition accurately</a:t>
            </a:r>
          </a:p>
        </p:txBody>
      </p:sp>
      <p:sp>
        <p:nvSpPr>
          <p:cNvPr name="TextBox 22" id="22"/>
          <p:cNvSpPr txBox="true"/>
          <p:nvPr/>
        </p:nvSpPr>
        <p:spPr>
          <a:xfrm rot="0">
            <a:off x="1028700" y="6480206"/>
            <a:ext cx="6229024" cy="365760"/>
          </a:xfrm>
          <a:prstGeom prst="rect">
            <a:avLst/>
          </a:prstGeom>
        </p:spPr>
        <p:txBody>
          <a:bodyPr anchor="t" rtlCol="false" tIns="0" lIns="0" bIns="0" rIns="0">
            <a:spAutoFit/>
          </a:bodyPr>
          <a:lstStyle/>
          <a:p>
            <a:pPr algn="l">
              <a:lnSpc>
                <a:spcPts val="2940"/>
              </a:lnSpc>
            </a:pPr>
            <a:r>
              <a:rPr lang="en-US" sz="2100" b="true">
                <a:solidFill>
                  <a:srgbClr val="0063C2"/>
                </a:solidFill>
                <a:latin typeface="Open Sauce Bold"/>
                <a:ea typeface="Open Sauce Bold"/>
                <a:cs typeface="Open Sauce Bold"/>
                <a:sym typeface="Open Sauce Bold"/>
              </a:rPr>
              <a:t>Analyze workforce trends through dashboards</a:t>
            </a:r>
          </a:p>
        </p:txBody>
      </p:sp>
      <p:sp>
        <p:nvSpPr>
          <p:cNvPr name="TextBox 23" id="23"/>
          <p:cNvSpPr txBox="true"/>
          <p:nvPr/>
        </p:nvSpPr>
        <p:spPr>
          <a:xfrm rot="0">
            <a:off x="1069280" y="7243462"/>
            <a:ext cx="4232381" cy="737235"/>
          </a:xfrm>
          <a:prstGeom prst="rect">
            <a:avLst/>
          </a:prstGeom>
        </p:spPr>
        <p:txBody>
          <a:bodyPr anchor="t" rtlCol="false" tIns="0" lIns="0" bIns="0" rIns="0">
            <a:spAutoFit/>
          </a:bodyPr>
          <a:lstStyle/>
          <a:p>
            <a:pPr algn="l">
              <a:lnSpc>
                <a:spcPts val="2940"/>
              </a:lnSpc>
            </a:pPr>
            <a:r>
              <a:rPr lang="en-US" sz="2100" b="true">
                <a:solidFill>
                  <a:srgbClr val="0063C2"/>
                </a:solidFill>
                <a:latin typeface="Open Sauce Bold"/>
                <a:ea typeface="Open Sauce Bold"/>
                <a:cs typeface="Open Sauce Bold"/>
                <a:sym typeface="Open Sauce Bold"/>
              </a:rPr>
              <a:t>Explain every prediction using SHAP</a:t>
            </a:r>
          </a:p>
        </p:txBody>
      </p:sp>
      <p:sp>
        <p:nvSpPr>
          <p:cNvPr name="TextBox 24" id="24"/>
          <p:cNvSpPr txBox="true"/>
          <p:nvPr/>
        </p:nvSpPr>
        <p:spPr>
          <a:xfrm rot="0">
            <a:off x="1069280" y="8145176"/>
            <a:ext cx="6229024" cy="737235"/>
          </a:xfrm>
          <a:prstGeom prst="rect">
            <a:avLst/>
          </a:prstGeom>
        </p:spPr>
        <p:txBody>
          <a:bodyPr anchor="t" rtlCol="false" tIns="0" lIns="0" bIns="0" rIns="0">
            <a:spAutoFit/>
          </a:bodyPr>
          <a:lstStyle/>
          <a:p>
            <a:pPr algn="l">
              <a:lnSpc>
                <a:spcPts val="2940"/>
              </a:lnSpc>
            </a:pPr>
            <a:r>
              <a:rPr lang="en-US" sz="2100" b="true">
                <a:solidFill>
                  <a:srgbClr val="0063C2"/>
                </a:solidFill>
                <a:latin typeface="Open Sauce Bold"/>
                <a:ea typeface="Open Sauce Bold"/>
                <a:cs typeface="Open Sauce Bold"/>
                <a:sym typeface="Open Sauce Bold"/>
              </a:rPr>
              <a:t>Support HR decision-making with interpretable AI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6886178" y="-2906565"/>
            <a:ext cx="16100130" cy="16100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72C">
                    <a:alpha val="100000"/>
                  </a:srgbClr>
                </a:gs>
                <a:gs pos="100000">
                  <a:srgbClr val="2961BC">
                    <a:alpha val="100000"/>
                  </a:srgbClr>
                </a:gs>
              </a:gsLst>
              <a:lin ang="0"/>
            </a:gradFill>
          </p:spPr>
        </p:sp>
        <p:sp>
          <p:nvSpPr>
            <p:cNvPr name="TextBox 4" id="4"/>
            <p:cNvSpPr txBox="true"/>
            <p:nvPr/>
          </p:nvSpPr>
          <p:spPr>
            <a:xfrm>
              <a:off x="76200" y="85725"/>
              <a:ext cx="660400" cy="650875"/>
            </a:xfrm>
            <a:prstGeom prst="rect">
              <a:avLst/>
            </a:prstGeom>
          </p:spPr>
          <p:txBody>
            <a:bodyPr anchor="ctr" rtlCol="false" tIns="50800" lIns="50800" bIns="50800" rIns="50800"/>
            <a:lstStyle/>
            <a:p>
              <a:pPr algn="ctr">
                <a:lnSpc>
                  <a:spcPts val="2372"/>
                </a:lnSpc>
              </a:pPr>
            </a:p>
          </p:txBody>
        </p:sp>
      </p:grpSp>
      <p:grpSp>
        <p:nvGrpSpPr>
          <p:cNvPr name="Group 5" id="5"/>
          <p:cNvGrpSpPr/>
          <p:nvPr/>
        </p:nvGrpSpPr>
        <p:grpSpPr>
          <a:xfrm rot="0">
            <a:off x="1028700" y="693183"/>
            <a:ext cx="3081706" cy="671033"/>
            <a:chOff x="0" y="0"/>
            <a:chExt cx="1160243" cy="252640"/>
          </a:xfrm>
        </p:grpSpPr>
        <p:sp>
          <p:nvSpPr>
            <p:cNvPr name="Freeform 6" id="6"/>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7" id="7"/>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327332" y="4254524"/>
            <a:ext cx="1773242" cy="177324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name="TextBox 11" id="11"/>
            <p:cNvSpPr txBox="true"/>
            <p:nvPr/>
          </p:nvSpPr>
          <p:spPr>
            <a:xfrm>
              <a:off x="76200" y="85725"/>
              <a:ext cx="660400" cy="650875"/>
            </a:xfrm>
            <a:prstGeom prst="rect">
              <a:avLst/>
            </a:prstGeom>
          </p:spPr>
          <p:txBody>
            <a:bodyPr anchor="ctr" rtlCol="false" tIns="50800" lIns="50800" bIns="50800" rIns="50800"/>
            <a:lstStyle/>
            <a:p>
              <a:pPr algn="ctr">
                <a:lnSpc>
                  <a:spcPts val="2372"/>
                </a:lnSpc>
              </a:pPr>
            </a:p>
          </p:txBody>
        </p:sp>
      </p:grpSp>
      <p:grpSp>
        <p:nvGrpSpPr>
          <p:cNvPr name="Group 12" id="12"/>
          <p:cNvGrpSpPr/>
          <p:nvPr/>
        </p:nvGrpSpPr>
        <p:grpSpPr>
          <a:xfrm rot="0">
            <a:off x="7635553" y="1743042"/>
            <a:ext cx="1773242" cy="177324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name="TextBox 14" id="14"/>
            <p:cNvSpPr txBox="true"/>
            <p:nvPr/>
          </p:nvSpPr>
          <p:spPr>
            <a:xfrm>
              <a:off x="76200" y="85725"/>
              <a:ext cx="660400" cy="650875"/>
            </a:xfrm>
            <a:prstGeom prst="rect">
              <a:avLst/>
            </a:prstGeom>
          </p:spPr>
          <p:txBody>
            <a:bodyPr anchor="ctr" rtlCol="false" tIns="50800" lIns="50800" bIns="50800" rIns="50800"/>
            <a:lstStyle/>
            <a:p>
              <a:pPr algn="ctr">
                <a:lnSpc>
                  <a:spcPts val="2372"/>
                </a:lnSpc>
              </a:pPr>
            </a:p>
          </p:txBody>
        </p:sp>
      </p:grpSp>
      <p:grpSp>
        <p:nvGrpSpPr>
          <p:cNvPr name="Group 15" id="15"/>
          <p:cNvGrpSpPr/>
          <p:nvPr/>
        </p:nvGrpSpPr>
        <p:grpSpPr>
          <a:xfrm rot="0">
            <a:off x="7635553" y="6770716"/>
            <a:ext cx="1773242" cy="177324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name="TextBox 17" id="17"/>
            <p:cNvSpPr txBox="true"/>
            <p:nvPr/>
          </p:nvSpPr>
          <p:spPr>
            <a:xfrm>
              <a:off x="76200" y="85725"/>
              <a:ext cx="660400" cy="650875"/>
            </a:xfrm>
            <a:prstGeom prst="rect">
              <a:avLst/>
            </a:prstGeom>
          </p:spPr>
          <p:txBody>
            <a:bodyPr anchor="ctr" rtlCol="false" tIns="50800" lIns="50800" bIns="50800" rIns="50800"/>
            <a:lstStyle/>
            <a:p>
              <a:pPr algn="ctr">
                <a:lnSpc>
                  <a:spcPts val="2372"/>
                </a:lnSpc>
              </a:pPr>
            </a:p>
          </p:txBody>
        </p:sp>
      </p:grpSp>
      <p:sp>
        <p:nvSpPr>
          <p:cNvPr name="TextBox 18" id="18"/>
          <p:cNvSpPr txBox="true"/>
          <p:nvPr/>
        </p:nvSpPr>
        <p:spPr>
          <a:xfrm rot="0">
            <a:off x="1449638" y="3864050"/>
            <a:ext cx="4203230" cy="1847596"/>
          </a:xfrm>
          <a:prstGeom prst="rect">
            <a:avLst/>
          </a:prstGeom>
        </p:spPr>
        <p:txBody>
          <a:bodyPr anchor="t" rtlCol="false" tIns="0" lIns="0" bIns="0" rIns="0">
            <a:spAutoFit/>
          </a:bodyPr>
          <a:lstStyle/>
          <a:p>
            <a:pPr algn="l">
              <a:lnSpc>
                <a:spcPts val="7231"/>
              </a:lnSpc>
            </a:pPr>
            <a:r>
              <a:rPr lang="en-US" b="true" sz="6399" spc="-236">
                <a:solidFill>
                  <a:srgbClr val="F8FCFF"/>
                </a:solidFill>
                <a:latin typeface="Open Sauce Bold"/>
                <a:ea typeface="Open Sauce Bold"/>
                <a:cs typeface="Open Sauce Bold"/>
                <a:sym typeface="Open Sauce Bold"/>
              </a:rPr>
              <a:t>KEY FEATURES</a:t>
            </a:r>
          </a:p>
        </p:txBody>
      </p:sp>
      <p:sp>
        <p:nvSpPr>
          <p:cNvPr name="TextBox 19" id="19"/>
          <p:cNvSpPr txBox="true"/>
          <p:nvPr/>
        </p:nvSpPr>
        <p:spPr>
          <a:xfrm rot="0">
            <a:off x="10721292" y="5121472"/>
            <a:ext cx="5912307" cy="1851660"/>
          </a:xfrm>
          <a:prstGeom prst="rect">
            <a:avLst/>
          </a:prstGeom>
        </p:spPr>
        <p:txBody>
          <a:bodyPr anchor="t" rtlCol="false" tIns="0" lIns="0" bIns="0" rIns="0">
            <a:spAutoFit/>
          </a:bodyPr>
          <a:lstStyle/>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Workforce statistics and attrition KPIs</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Feature comparison</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Workforce trend analysis</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Model performance metrics</a:t>
            </a:r>
          </a:p>
          <a:p>
            <a:pPr algn="l">
              <a:lnSpc>
                <a:spcPts val="2940"/>
              </a:lnSpc>
            </a:pPr>
          </a:p>
        </p:txBody>
      </p:sp>
      <p:sp>
        <p:nvSpPr>
          <p:cNvPr name="TextBox 20" id="20"/>
          <p:cNvSpPr txBox="true"/>
          <p:nvPr/>
        </p:nvSpPr>
        <p:spPr>
          <a:xfrm rot="0">
            <a:off x="2094089" y="928416"/>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sp>
        <p:nvSpPr>
          <p:cNvPr name="TextBox 21" id="21"/>
          <p:cNvSpPr txBox="true"/>
          <p:nvPr/>
        </p:nvSpPr>
        <p:spPr>
          <a:xfrm rot="0">
            <a:off x="10721292" y="4604518"/>
            <a:ext cx="5473845"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Interactive HR Dashboard</a:t>
            </a:r>
          </a:p>
        </p:txBody>
      </p:sp>
      <p:sp>
        <p:nvSpPr>
          <p:cNvPr name="TextBox 22" id="22"/>
          <p:cNvSpPr txBox="true"/>
          <p:nvPr/>
        </p:nvSpPr>
        <p:spPr>
          <a:xfrm rot="0">
            <a:off x="1449638" y="5982496"/>
            <a:ext cx="5196120" cy="2594610"/>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AttriSense combines machine learning, interactive analytics, and Explainable AI into a single platform, enabling HR professionals to predict employee attrition, analyze workforce trends, and understand the reasoning behind every prediction.</a:t>
            </a:r>
          </a:p>
        </p:txBody>
      </p:sp>
      <p:sp>
        <p:nvSpPr>
          <p:cNvPr name="TextBox 23" id="23"/>
          <p:cNvSpPr txBox="true"/>
          <p:nvPr/>
        </p:nvSpPr>
        <p:spPr>
          <a:xfrm rot="0">
            <a:off x="10048510" y="7523384"/>
            <a:ext cx="5912307" cy="1851660"/>
          </a:xfrm>
          <a:prstGeom prst="rect">
            <a:avLst/>
          </a:prstGeom>
        </p:spPr>
        <p:txBody>
          <a:bodyPr anchor="t" rtlCol="false" tIns="0" lIns="0" bIns="0" rIns="0">
            <a:spAutoFit/>
          </a:bodyPr>
          <a:lstStyle/>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Explains why a prediction was made</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Shows top feature contributions</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Improves transparency and trust in HR decisions</a:t>
            </a:r>
          </a:p>
          <a:p>
            <a:pPr algn="l">
              <a:lnSpc>
                <a:spcPts val="2940"/>
              </a:lnSpc>
            </a:pPr>
          </a:p>
        </p:txBody>
      </p:sp>
      <p:sp>
        <p:nvSpPr>
          <p:cNvPr name="TextBox 24" id="24"/>
          <p:cNvSpPr txBox="true"/>
          <p:nvPr/>
        </p:nvSpPr>
        <p:spPr>
          <a:xfrm rot="0">
            <a:off x="10048510" y="7006431"/>
            <a:ext cx="5473845"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Explainable AI (SHAP)</a:t>
            </a:r>
          </a:p>
        </p:txBody>
      </p:sp>
      <p:sp>
        <p:nvSpPr>
          <p:cNvPr name="TextBox 25" id="25"/>
          <p:cNvSpPr txBox="true"/>
          <p:nvPr/>
        </p:nvSpPr>
        <p:spPr>
          <a:xfrm rot="0">
            <a:off x="10048510" y="2488589"/>
            <a:ext cx="6585089" cy="1851660"/>
          </a:xfrm>
          <a:prstGeom prst="rect">
            <a:avLst/>
          </a:prstGeom>
        </p:spPr>
        <p:txBody>
          <a:bodyPr anchor="t" rtlCol="false" tIns="0" lIns="0" bIns="0" rIns="0">
            <a:spAutoFit/>
          </a:bodyPr>
          <a:lstStyle/>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Predicts employee attrition risk using four machine learning models.</a:t>
            </a:r>
          </a:p>
          <a:p>
            <a:pPr algn="l" marL="453390" indent="-226695" lvl="1">
              <a:lnSpc>
                <a:spcPts val="2940"/>
              </a:lnSpc>
              <a:buFont typeface="Arial"/>
              <a:buChar char="•"/>
            </a:pPr>
            <a:r>
              <a:rPr lang="en-US" sz="2100" spc="33">
                <a:solidFill>
                  <a:srgbClr val="00172C"/>
                </a:solidFill>
                <a:latin typeface="Open Sauce"/>
                <a:ea typeface="Open Sauce"/>
                <a:cs typeface="Open Sauce"/>
                <a:sym typeface="Open Sauce"/>
              </a:rPr>
              <a:t>Displays probability score, confidence score, and predicted outcome.</a:t>
            </a:r>
          </a:p>
          <a:p>
            <a:pPr algn="l">
              <a:lnSpc>
                <a:spcPts val="2940"/>
              </a:lnSpc>
            </a:pPr>
          </a:p>
        </p:txBody>
      </p:sp>
      <p:sp>
        <p:nvSpPr>
          <p:cNvPr name="TextBox 26" id="26"/>
          <p:cNvSpPr txBox="true"/>
          <p:nvPr/>
        </p:nvSpPr>
        <p:spPr>
          <a:xfrm rot="0">
            <a:off x="10048510" y="1971636"/>
            <a:ext cx="5473845"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Predictive Analytics</a:t>
            </a:r>
          </a:p>
        </p:txBody>
      </p:sp>
      <p:sp>
        <p:nvSpPr>
          <p:cNvPr name="TextBox 27" id="27"/>
          <p:cNvSpPr txBox="true"/>
          <p:nvPr/>
        </p:nvSpPr>
        <p:spPr>
          <a:xfrm rot="0">
            <a:off x="8376430" y="4830261"/>
            <a:ext cx="1672080" cy="503342"/>
          </a:xfrm>
          <a:prstGeom prst="rect">
            <a:avLst/>
          </a:prstGeom>
        </p:spPr>
        <p:txBody>
          <a:bodyPr anchor="t" rtlCol="false" tIns="0" lIns="0" bIns="0" rIns="0">
            <a:spAutoFit/>
          </a:bodyPr>
          <a:lstStyle/>
          <a:p>
            <a:pPr algn="ctr">
              <a:lnSpc>
                <a:spcPts val="3948"/>
              </a:lnSpc>
              <a:spcBef>
                <a:spcPct val="0"/>
              </a:spcBef>
            </a:pPr>
            <a:r>
              <a:rPr lang="en-US" sz="3494" spc="55">
                <a:solidFill>
                  <a:srgbClr val="FFFFFF"/>
                </a:solidFill>
                <a:latin typeface="Open Sauce"/>
                <a:ea typeface="Open Sauce"/>
                <a:cs typeface="Open Sauce"/>
                <a:sym typeface="Open Sauce"/>
              </a:rPr>
              <a:t>🤖</a:t>
            </a:r>
          </a:p>
        </p:txBody>
      </p:sp>
      <p:sp>
        <p:nvSpPr>
          <p:cNvPr name="TextBox 28" id="28"/>
          <p:cNvSpPr txBox="true"/>
          <p:nvPr/>
        </p:nvSpPr>
        <p:spPr>
          <a:xfrm rot="0">
            <a:off x="7635553" y="2312316"/>
            <a:ext cx="1757016" cy="503933"/>
          </a:xfrm>
          <a:prstGeom prst="rect">
            <a:avLst/>
          </a:prstGeom>
        </p:spPr>
        <p:txBody>
          <a:bodyPr anchor="t" rtlCol="false" tIns="0" lIns="0" bIns="0" rIns="0">
            <a:spAutoFit/>
          </a:bodyPr>
          <a:lstStyle/>
          <a:p>
            <a:pPr algn="ctr">
              <a:lnSpc>
                <a:spcPts val="3953"/>
              </a:lnSpc>
              <a:spcBef>
                <a:spcPct val="0"/>
              </a:spcBef>
            </a:pPr>
            <a:r>
              <a:rPr lang="en-US" sz="3498" spc="55">
                <a:solidFill>
                  <a:srgbClr val="FFFFFF"/>
                </a:solidFill>
                <a:latin typeface="Open Sauce"/>
                <a:ea typeface="Open Sauce"/>
                <a:cs typeface="Open Sauce"/>
                <a:sym typeface="Open Sauce"/>
              </a:rPr>
              <a:t>📈</a:t>
            </a:r>
          </a:p>
        </p:txBody>
      </p:sp>
      <p:sp>
        <p:nvSpPr>
          <p:cNvPr name="TextBox 29" id="29"/>
          <p:cNvSpPr txBox="true"/>
          <p:nvPr/>
        </p:nvSpPr>
        <p:spPr>
          <a:xfrm rot="0">
            <a:off x="7750658" y="7425619"/>
            <a:ext cx="1526805" cy="482486"/>
          </a:xfrm>
          <a:prstGeom prst="rect">
            <a:avLst/>
          </a:prstGeom>
        </p:spPr>
        <p:txBody>
          <a:bodyPr anchor="t" rtlCol="false" tIns="0" lIns="0" bIns="0" rIns="0">
            <a:spAutoFit/>
          </a:bodyPr>
          <a:lstStyle/>
          <a:p>
            <a:pPr algn="ctr">
              <a:lnSpc>
                <a:spcPts val="3790"/>
              </a:lnSpc>
              <a:spcBef>
                <a:spcPct val="0"/>
              </a:spcBef>
            </a:pPr>
            <a:r>
              <a:rPr lang="en-US" sz="3354" spc="53">
                <a:solidFill>
                  <a:srgbClr val="FFFFFF"/>
                </a:solidFill>
                <a:latin typeface="Open Sauce"/>
                <a:ea typeface="Open Sauce"/>
                <a:cs typeface="Open Sauce"/>
                <a:sym typeface="Open Sauce"/>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28700" y="693183"/>
            <a:ext cx="3081706" cy="671033"/>
            <a:chOff x="0" y="0"/>
            <a:chExt cx="1160243" cy="252640"/>
          </a:xfrm>
        </p:grpSpPr>
        <p:sp>
          <p:nvSpPr>
            <p:cNvPr name="Freeform 3" id="3"/>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4" id="4"/>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4321001"/>
            <a:ext cx="4328570" cy="1847596"/>
          </a:xfrm>
          <a:prstGeom prst="rect">
            <a:avLst/>
          </a:prstGeom>
        </p:spPr>
        <p:txBody>
          <a:bodyPr anchor="t" rtlCol="false" tIns="0" lIns="0" bIns="0" rIns="0">
            <a:spAutoFit/>
          </a:bodyPr>
          <a:lstStyle/>
          <a:p>
            <a:pPr algn="l">
              <a:lnSpc>
                <a:spcPts val="7231"/>
              </a:lnSpc>
            </a:pPr>
            <a:r>
              <a:rPr lang="en-US" b="true" sz="6399" spc="-236">
                <a:solidFill>
                  <a:srgbClr val="00172C"/>
                </a:solidFill>
                <a:latin typeface="Open Sauce Bold"/>
                <a:ea typeface="Open Sauce Bold"/>
                <a:cs typeface="Open Sauce Bold"/>
                <a:sym typeface="Open Sauce Bold"/>
              </a:rPr>
              <a:t>SYSTEM MODULES</a:t>
            </a:r>
          </a:p>
        </p:txBody>
      </p:sp>
      <p:sp>
        <p:nvSpPr>
          <p:cNvPr name="TextBox 7" id="7"/>
          <p:cNvSpPr txBox="true"/>
          <p:nvPr/>
        </p:nvSpPr>
        <p:spPr>
          <a:xfrm rot="0">
            <a:off x="5357270" y="2139959"/>
            <a:ext cx="10118077" cy="1108710"/>
          </a:xfrm>
          <a:prstGeom prst="rect">
            <a:avLst/>
          </a:prstGeom>
        </p:spPr>
        <p:txBody>
          <a:bodyPr anchor="t" rtlCol="false" tIns="0" lIns="0" bIns="0" rIns="0">
            <a:spAutoFit/>
          </a:bodyPr>
          <a:lstStyle/>
          <a:p>
            <a:pPr algn="l">
              <a:lnSpc>
                <a:spcPts val="2940"/>
              </a:lnSpc>
            </a:pPr>
            <a:r>
              <a:rPr lang="en-US" sz="2100" spc="33">
                <a:solidFill>
                  <a:srgbClr val="00172C"/>
                </a:solidFill>
                <a:latin typeface="Open Sauce"/>
                <a:ea typeface="Open Sauce"/>
                <a:cs typeface="Open Sauce"/>
                <a:sym typeface="Open Sauce"/>
              </a:rPr>
              <a:t>AttriSense consists of multiple integrated modules that provide workforce analytics, employee attrition prediction, model evaluation, and Explainable AI through an intuitive Streamlit interface.</a:t>
            </a:r>
          </a:p>
        </p:txBody>
      </p:sp>
      <p:sp>
        <p:nvSpPr>
          <p:cNvPr name="TextBox 8" id="8"/>
          <p:cNvSpPr txBox="true"/>
          <p:nvPr/>
        </p:nvSpPr>
        <p:spPr>
          <a:xfrm rot="0">
            <a:off x="2094089" y="928416"/>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grpSp>
        <p:nvGrpSpPr>
          <p:cNvPr name="Group 9" id="9"/>
          <p:cNvGrpSpPr/>
          <p:nvPr/>
        </p:nvGrpSpPr>
        <p:grpSpPr>
          <a:xfrm rot="0">
            <a:off x="5182493" y="4282901"/>
            <a:ext cx="3873097" cy="4975399"/>
            <a:chOff x="0" y="0"/>
            <a:chExt cx="1020075" cy="1310393"/>
          </a:xfrm>
        </p:grpSpPr>
        <p:sp>
          <p:nvSpPr>
            <p:cNvPr name="Freeform 10" id="10"/>
            <p:cNvSpPr/>
            <p:nvPr/>
          </p:nvSpPr>
          <p:spPr>
            <a:xfrm flipH="false" flipV="false" rot="0">
              <a:off x="0" y="0"/>
              <a:ext cx="1020075" cy="1310393"/>
            </a:xfrm>
            <a:custGeom>
              <a:avLst/>
              <a:gdLst/>
              <a:ahLst/>
              <a:cxnLst/>
              <a:rect r="r" b="b" t="t" l="l"/>
              <a:pathLst>
                <a:path h="1310393" w="1020075">
                  <a:moveTo>
                    <a:pt x="71960" y="0"/>
                  </a:moveTo>
                  <a:lnTo>
                    <a:pt x="948115" y="0"/>
                  </a:lnTo>
                  <a:cubicBezTo>
                    <a:pt x="967200" y="0"/>
                    <a:pt x="985503" y="7582"/>
                    <a:pt x="998998" y="21077"/>
                  </a:cubicBezTo>
                  <a:cubicBezTo>
                    <a:pt x="1012493" y="34572"/>
                    <a:pt x="1020075" y="52875"/>
                    <a:pt x="1020075" y="71960"/>
                  </a:cubicBezTo>
                  <a:lnTo>
                    <a:pt x="1020075" y="1238433"/>
                  </a:lnTo>
                  <a:cubicBezTo>
                    <a:pt x="1020075" y="1278176"/>
                    <a:pt x="987857" y="1310393"/>
                    <a:pt x="948115" y="1310393"/>
                  </a:cubicBezTo>
                  <a:lnTo>
                    <a:pt x="71960" y="1310393"/>
                  </a:lnTo>
                  <a:cubicBezTo>
                    <a:pt x="52875" y="1310393"/>
                    <a:pt x="34572" y="1302812"/>
                    <a:pt x="21077" y="1289317"/>
                  </a:cubicBezTo>
                  <a:cubicBezTo>
                    <a:pt x="7582" y="1275821"/>
                    <a:pt x="0" y="1257518"/>
                    <a:pt x="0" y="1238433"/>
                  </a:cubicBezTo>
                  <a:lnTo>
                    <a:pt x="0" y="71960"/>
                  </a:lnTo>
                  <a:cubicBezTo>
                    <a:pt x="0" y="52875"/>
                    <a:pt x="7582" y="34572"/>
                    <a:pt x="21077" y="21077"/>
                  </a:cubicBezTo>
                  <a:cubicBezTo>
                    <a:pt x="34572" y="7582"/>
                    <a:pt x="52875" y="0"/>
                    <a:pt x="71960" y="0"/>
                  </a:cubicBezTo>
                  <a:close/>
                </a:path>
              </a:pathLst>
            </a:custGeom>
            <a:solidFill>
              <a:srgbClr val="0063C2"/>
            </a:solidFill>
          </p:spPr>
        </p:sp>
        <p:sp>
          <p:nvSpPr>
            <p:cNvPr name="TextBox 11" id="11"/>
            <p:cNvSpPr txBox="true"/>
            <p:nvPr/>
          </p:nvSpPr>
          <p:spPr>
            <a:xfrm>
              <a:off x="0" y="9525"/>
              <a:ext cx="1020075" cy="1300868"/>
            </a:xfrm>
            <a:prstGeom prst="rect">
              <a:avLst/>
            </a:prstGeom>
          </p:spPr>
          <p:txBody>
            <a:bodyPr anchor="ctr" rtlCol="false" tIns="50800" lIns="50800" bIns="50800" rIns="50800"/>
            <a:lstStyle/>
            <a:p>
              <a:pPr algn="ctr">
                <a:lnSpc>
                  <a:spcPts val="2372"/>
                </a:lnSpc>
              </a:pPr>
            </a:p>
          </p:txBody>
        </p:sp>
      </p:grpSp>
      <p:grpSp>
        <p:nvGrpSpPr>
          <p:cNvPr name="Group 12" id="12"/>
          <p:cNvGrpSpPr/>
          <p:nvPr/>
        </p:nvGrpSpPr>
        <p:grpSpPr>
          <a:xfrm rot="0">
            <a:off x="9286569" y="4282901"/>
            <a:ext cx="3873097" cy="4975399"/>
            <a:chOff x="0" y="0"/>
            <a:chExt cx="1020075" cy="1310393"/>
          </a:xfrm>
        </p:grpSpPr>
        <p:sp>
          <p:nvSpPr>
            <p:cNvPr name="Freeform 13" id="13"/>
            <p:cNvSpPr/>
            <p:nvPr/>
          </p:nvSpPr>
          <p:spPr>
            <a:xfrm flipH="false" flipV="false" rot="0">
              <a:off x="0" y="0"/>
              <a:ext cx="1020075" cy="1310393"/>
            </a:xfrm>
            <a:custGeom>
              <a:avLst/>
              <a:gdLst/>
              <a:ahLst/>
              <a:cxnLst/>
              <a:rect r="r" b="b" t="t" l="l"/>
              <a:pathLst>
                <a:path h="1310393" w="1020075">
                  <a:moveTo>
                    <a:pt x="71960" y="0"/>
                  </a:moveTo>
                  <a:lnTo>
                    <a:pt x="948115" y="0"/>
                  </a:lnTo>
                  <a:cubicBezTo>
                    <a:pt x="967200" y="0"/>
                    <a:pt x="985503" y="7582"/>
                    <a:pt x="998998" y="21077"/>
                  </a:cubicBezTo>
                  <a:cubicBezTo>
                    <a:pt x="1012493" y="34572"/>
                    <a:pt x="1020075" y="52875"/>
                    <a:pt x="1020075" y="71960"/>
                  </a:cubicBezTo>
                  <a:lnTo>
                    <a:pt x="1020075" y="1238433"/>
                  </a:lnTo>
                  <a:cubicBezTo>
                    <a:pt x="1020075" y="1278176"/>
                    <a:pt x="987857" y="1310393"/>
                    <a:pt x="948115" y="1310393"/>
                  </a:cubicBezTo>
                  <a:lnTo>
                    <a:pt x="71960" y="1310393"/>
                  </a:lnTo>
                  <a:cubicBezTo>
                    <a:pt x="52875" y="1310393"/>
                    <a:pt x="34572" y="1302812"/>
                    <a:pt x="21077" y="1289317"/>
                  </a:cubicBezTo>
                  <a:cubicBezTo>
                    <a:pt x="7582" y="1275821"/>
                    <a:pt x="0" y="1257518"/>
                    <a:pt x="0" y="1238433"/>
                  </a:cubicBezTo>
                  <a:lnTo>
                    <a:pt x="0" y="71960"/>
                  </a:lnTo>
                  <a:cubicBezTo>
                    <a:pt x="0" y="52875"/>
                    <a:pt x="7582" y="34572"/>
                    <a:pt x="21077" y="21077"/>
                  </a:cubicBezTo>
                  <a:cubicBezTo>
                    <a:pt x="34572" y="7582"/>
                    <a:pt x="52875" y="0"/>
                    <a:pt x="71960" y="0"/>
                  </a:cubicBezTo>
                  <a:close/>
                </a:path>
              </a:pathLst>
            </a:custGeom>
            <a:solidFill>
              <a:srgbClr val="F8FCFF"/>
            </a:solidFill>
            <a:ln w="38100" cap="rnd">
              <a:solidFill>
                <a:srgbClr val="00172C"/>
              </a:solidFill>
              <a:prstDash val="solid"/>
              <a:round/>
            </a:ln>
          </p:spPr>
        </p:sp>
        <p:sp>
          <p:nvSpPr>
            <p:cNvPr name="TextBox 14" id="14"/>
            <p:cNvSpPr txBox="true"/>
            <p:nvPr/>
          </p:nvSpPr>
          <p:spPr>
            <a:xfrm>
              <a:off x="0" y="9525"/>
              <a:ext cx="1020075" cy="1300868"/>
            </a:xfrm>
            <a:prstGeom prst="rect">
              <a:avLst/>
            </a:prstGeom>
          </p:spPr>
          <p:txBody>
            <a:bodyPr anchor="ctr" rtlCol="false" tIns="50800" lIns="50800" bIns="50800" rIns="50800"/>
            <a:lstStyle/>
            <a:p>
              <a:pPr algn="ctr">
                <a:lnSpc>
                  <a:spcPts val="2372"/>
                </a:lnSpc>
              </a:pPr>
            </a:p>
          </p:txBody>
        </p:sp>
      </p:grpSp>
      <p:grpSp>
        <p:nvGrpSpPr>
          <p:cNvPr name="Group 15" id="15"/>
          <p:cNvGrpSpPr/>
          <p:nvPr/>
        </p:nvGrpSpPr>
        <p:grpSpPr>
          <a:xfrm rot="0">
            <a:off x="13386203" y="4282901"/>
            <a:ext cx="3873097" cy="4975399"/>
            <a:chOff x="0" y="0"/>
            <a:chExt cx="1020075" cy="1310393"/>
          </a:xfrm>
        </p:grpSpPr>
        <p:sp>
          <p:nvSpPr>
            <p:cNvPr name="Freeform 16" id="16"/>
            <p:cNvSpPr/>
            <p:nvPr/>
          </p:nvSpPr>
          <p:spPr>
            <a:xfrm flipH="false" flipV="false" rot="0">
              <a:off x="0" y="0"/>
              <a:ext cx="1020075" cy="1310393"/>
            </a:xfrm>
            <a:custGeom>
              <a:avLst/>
              <a:gdLst/>
              <a:ahLst/>
              <a:cxnLst/>
              <a:rect r="r" b="b" t="t" l="l"/>
              <a:pathLst>
                <a:path h="1310393" w="1020075">
                  <a:moveTo>
                    <a:pt x="71960" y="0"/>
                  </a:moveTo>
                  <a:lnTo>
                    <a:pt x="948115" y="0"/>
                  </a:lnTo>
                  <a:cubicBezTo>
                    <a:pt x="967200" y="0"/>
                    <a:pt x="985503" y="7582"/>
                    <a:pt x="998998" y="21077"/>
                  </a:cubicBezTo>
                  <a:cubicBezTo>
                    <a:pt x="1012493" y="34572"/>
                    <a:pt x="1020075" y="52875"/>
                    <a:pt x="1020075" y="71960"/>
                  </a:cubicBezTo>
                  <a:lnTo>
                    <a:pt x="1020075" y="1238433"/>
                  </a:lnTo>
                  <a:cubicBezTo>
                    <a:pt x="1020075" y="1278176"/>
                    <a:pt x="987857" y="1310393"/>
                    <a:pt x="948115" y="1310393"/>
                  </a:cubicBezTo>
                  <a:lnTo>
                    <a:pt x="71960" y="1310393"/>
                  </a:lnTo>
                  <a:cubicBezTo>
                    <a:pt x="52875" y="1310393"/>
                    <a:pt x="34572" y="1302812"/>
                    <a:pt x="21077" y="1289317"/>
                  </a:cubicBezTo>
                  <a:cubicBezTo>
                    <a:pt x="7582" y="1275821"/>
                    <a:pt x="0" y="1257518"/>
                    <a:pt x="0" y="1238433"/>
                  </a:cubicBezTo>
                  <a:lnTo>
                    <a:pt x="0" y="71960"/>
                  </a:lnTo>
                  <a:cubicBezTo>
                    <a:pt x="0" y="52875"/>
                    <a:pt x="7582" y="34572"/>
                    <a:pt x="21077" y="21077"/>
                  </a:cubicBezTo>
                  <a:cubicBezTo>
                    <a:pt x="34572" y="7582"/>
                    <a:pt x="52875" y="0"/>
                    <a:pt x="71960" y="0"/>
                  </a:cubicBezTo>
                  <a:close/>
                </a:path>
              </a:pathLst>
            </a:custGeom>
            <a:solidFill>
              <a:srgbClr val="00172C"/>
            </a:solidFill>
          </p:spPr>
        </p:sp>
        <p:sp>
          <p:nvSpPr>
            <p:cNvPr name="TextBox 17" id="17"/>
            <p:cNvSpPr txBox="true"/>
            <p:nvPr/>
          </p:nvSpPr>
          <p:spPr>
            <a:xfrm>
              <a:off x="0" y="9525"/>
              <a:ext cx="1020075" cy="1300868"/>
            </a:xfrm>
            <a:prstGeom prst="rect">
              <a:avLst/>
            </a:prstGeom>
          </p:spPr>
          <p:txBody>
            <a:bodyPr anchor="ctr" rtlCol="false" tIns="50800" lIns="50800" bIns="50800" rIns="50800"/>
            <a:lstStyle/>
            <a:p>
              <a:pPr algn="ctr">
                <a:lnSpc>
                  <a:spcPts val="2372"/>
                </a:lnSpc>
              </a:pPr>
            </a:p>
          </p:txBody>
        </p:sp>
      </p:grpSp>
      <p:sp>
        <p:nvSpPr>
          <p:cNvPr name="TextBox 18" id="18"/>
          <p:cNvSpPr txBox="true"/>
          <p:nvPr/>
        </p:nvSpPr>
        <p:spPr>
          <a:xfrm rot="0">
            <a:off x="5773471" y="4968240"/>
            <a:ext cx="2420022"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Data Analytics</a:t>
            </a:r>
          </a:p>
        </p:txBody>
      </p:sp>
      <p:sp>
        <p:nvSpPr>
          <p:cNvPr name="Freeform 19" id="19"/>
          <p:cNvSpPr/>
          <p:nvPr/>
        </p:nvSpPr>
        <p:spPr>
          <a:xfrm flipH="false" flipV="false" rot="0">
            <a:off x="8367099" y="3905894"/>
            <a:ext cx="919471" cy="919471"/>
          </a:xfrm>
          <a:custGeom>
            <a:avLst/>
            <a:gdLst/>
            <a:ahLst/>
            <a:cxnLst/>
            <a:rect r="r" b="b" t="t" l="l"/>
            <a:pathLst>
              <a:path h="919471" w="919471">
                <a:moveTo>
                  <a:pt x="0" y="0"/>
                </a:moveTo>
                <a:lnTo>
                  <a:pt x="919470" y="0"/>
                </a:lnTo>
                <a:lnTo>
                  <a:pt x="919470" y="919471"/>
                </a:lnTo>
                <a:lnTo>
                  <a:pt x="0" y="919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2341470" y="3905894"/>
            <a:ext cx="919471" cy="919471"/>
          </a:xfrm>
          <a:custGeom>
            <a:avLst/>
            <a:gdLst/>
            <a:ahLst/>
            <a:cxnLst/>
            <a:rect r="r" b="b" t="t" l="l"/>
            <a:pathLst>
              <a:path h="919471" w="919471">
                <a:moveTo>
                  <a:pt x="0" y="0"/>
                </a:moveTo>
                <a:lnTo>
                  <a:pt x="919470" y="0"/>
                </a:lnTo>
                <a:lnTo>
                  <a:pt x="919470" y="919471"/>
                </a:lnTo>
                <a:lnTo>
                  <a:pt x="0" y="919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547065" y="3823165"/>
            <a:ext cx="919471" cy="919471"/>
          </a:xfrm>
          <a:custGeom>
            <a:avLst/>
            <a:gdLst/>
            <a:ahLst/>
            <a:cxnLst/>
            <a:rect r="r" b="b" t="t" l="l"/>
            <a:pathLst>
              <a:path h="919471" w="919471">
                <a:moveTo>
                  <a:pt x="0" y="0"/>
                </a:moveTo>
                <a:lnTo>
                  <a:pt x="919471" y="0"/>
                </a:lnTo>
                <a:lnTo>
                  <a:pt x="919471" y="919471"/>
                </a:lnTo>
                <a:lnTo>
                  <a:pt x="0" y="919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5726842" y="6406722"/>
            <a:ext cx="3099991" cy="1851660"/>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 Dataset Explorer</a:t>
            </a:r>
          </a:p>
          <a:p>
            <a:pPr algn="l">
              <a:lnSpc>
                <a:spcPts val="2940"/>
              </a:lnSpc>
            </a:pPr>
            <a:r>
              <a:rPr lang="en-US" sz="2100" spc="33">
                <a:solidFill>
                  <a:srgbClr val="F8FCFF"/>
                </a:solidFill>
                <a:latin typeface="Open Sauce"/>
                <a:ea typeface="Open Sauce"/>
                <a:cs typeface="Open Sauce"/>
                <a:sym typeface="Open Sauce"/>
              </a:rPr>
              <a:t>• Workforce statistics</a:t>
            </a:r>
          </a:p>
          <a:p>
            <a:pPr algn="l">
              <a:lnSpc>
                <a:spcPts val="2940"/>
              </a:lnSpc>
            </a:pPr>
            <a:r>
              <a:rPr lang="en-US" sz="2100" spc="33">
                <a:solidFill>
                  <a:srgbClr val="F8FCFF"/>
                </a:solidFill>
                <a:latin typeface="Open Sauce"/>
                <a:ea typeface="Open Sauce"/>
                <a:cs typeface="Open Sauce"/>
                <a:sym typeface="Open Sauce"/>
              </a:rPr>
              <a:t>• Interactive EDA</a:t>
            </a:r>
          </a:p>
          <a:p>
            <a:pPr algn="l">
              <a:lnSpc>
                <a:spcPts val="2940"/>
              </a:lnSpc>
            </a:pPr>
            <a:r>
              <a:rPr lang="en-US" sz="2100" spc="33">
                <a:solidFill>
                  <a:srgbClr val="F8FCFF"/>
                </a:solidFill>
                <a:latin typeface="Open Sauce"/>
                <a:ea typeface="Open Sauce"/>
                <a:cs typeface="Open Sauce"/>
                <a:sym typeface="Open Sauce"/>
              </a:rPr>
              <a:t>• HR insights</a:t>
            </a:r>
          </a:p>
          <a:p>
            <a:pPr algn="l">
              <a:lnSpc>
                <a:spcPts val="2940"/>
              </a:lnSpc>
            </a:pPr>
          </a:p>
        </p:txBody>
      </p:sp>
      <p:sp>
        <p:nvSpPr>
          <p:cNvPr name="TextBox 23" id="23"/>
          <p:cNvSpPr txBox="true"/>
          <p:nvPr/>
        </p:nvSpPr>
        <p:spPr>
          <a:xfrm rot="0">
            <a:off x="13943894" y="4936807"/>
            <a:ext cx="2420022"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Explainable AI</a:t>
            </a:r>
          </a:p>
        </p:txBody>
      </p:sp>
      <p:sp>
        <p:nvSpPr>
          <p:cNvPr name="TextBox 24" id="24"/>
          <p:cNvSpPr txBox="true"/>
          <p:nvPr/>
        </p:nvSpPr>
        <p:spPr>
          <a:xfrm rot="0">
            <a:off x="13943894" y="6406722"/>
            <a:ext cx="3062906" cy="222313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 SHAP explanations</a:t>
            </a:r>
          </a:p>
          <a:p>
            <a:pPr algn="l">
              <a:lnSpc>
                <a:spcPts val="2940"/>
              </a:lnSpc>
            </a:pPr>
            <a:r>
              <a:rPr lang="en-US" sz="2100" spc="33">
                <a:solidFill>
                  <a:srgbClr val="F8FCFF"/>
                </a:solidFill>
                <a:latin typeface="Open Sauce"/>
                <a:ea typeface="Open Sauce"/>
                <a:cs typeface="Open Sauce"/>
                <a:sym typeface="Open Sauce"/>
              </a:rPr>
              <a:t>• Feature importance</a:t>
            </a:r>
          </a:p>
          <a:p>
            <a:pPr algn="l">
              <a:lnSpc>
                <a:spcPts val="2940"/>
              </a:lnSpc>
            </a:pPr>
            <a:r>
              <a:rPr lang="en-US" sz="2100" spc="33">
                <a:solidFill>
                  <a:srgbClr val="F8FCFF"/>
                </a:solidFill>
                <a:latin typeface="Open Sauce"/>
                <a:ea typeface="Open Sauce"/>
                <a:cs typeface="Open Sauce"/>
                <a:sym typeface="Open Sauce"/>
              </a:rPr>
              <a:t>• Prediction transparency</a:t>
            </a:r>
          </a:p>
          <a:p>
            <a:pPr algn="l">
              <a:lnSpc>
                <a:spcPts val="2940"/>
              </a:lnSpc>
            </a:pPr>
            <a:r>
              <a:rPr lang="en-US" sz="2100" spc="33">
                <a:solidFill>
                  <a:srgbClr val="F8FCFF"/>
                </a:solidFill>
                <a:latin typeface="Open Sauce"/>
                <a:ea typeface="Open Sauce"/>
                <a:cs typeface="Open Sauce"/>
                <a:sym typeface="Open Sauce"/>
              </a:rPr>
              <a:t>• HR recommendations</a:t>
            </a:r>
          </a:p>
          <a:p>
            <a:pPr algn="l">
              <a:lnSpc>
                <a:spcPts val="2940"/>
              </a:lnSpc>
            </a:pPr>
          </a:p>
        </p:txBody>
      </p:sp>
      <p:sp>
        <p:nvSpPr>
          <p:cNvPr name="TextBox 25" id="25"/>
          <p:cNvSpPr txBox="true"/>
          <p:nvPr/>
        </p:nvSpPr>
        <p:spPr>
          <a:xfrm rot="0">
            <a:off x="9817346" y="4968240"/>
            <a:ext cx="2926386"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Prediction Engine</a:t>
            </a:r>
          </a:p>
        </p:txBody>
      </p:sp>
      <p:sp>
        <p:nvSpPr>
          <p:cNvPr name="TextBox 26" id="26"/>
          <p:cNvSpPr txBox="true"/>
          <p:nvPr/>
        </p:nvSpPr>
        <p:spPr>
          <a:xfrm rot="0">
            <a:off x="9817346" y="6406722"/>
            <a:ext cx="2973014" cy="1851660"/>
          </a:xfrm>
          <a:prstGeom prst="rect">
            <a:avLst/>
          </a:prstGeom>
        </p:spPr>
        <p:txBody>
          <a:bodyPr anchor="t" rtlCol="false" tIns="0" lIns="0" bIns="0" rIns="0">
            <a:spAutoFit/>
          </a:bodyPr>
          <a:lstStyle/>
          <a:p>
            <a:pPr algn="l">
              <a:lnSpc>
                <a:spcPts val="2940"/>
              </a:lnSpc>
            </a:pPr>
            <a:r>
              <a:rPr lang="en-US" sz="2100" spc="33">
                <a:solidFill>
                  <a:srgbClr val="00172C"/>
                </a:solidFill>
                <a:latin typeface="Open Sauce"/>
                <a:ea typeface="Open Sauce"/>
                <a:cs typeface="Open Sauce"/>
                <a:sym typeface="Open Sauce"/>
              </a:rPr>
              <a:t>• Logistic Regression</a:t>
            </a:r>
          </a:p>
          <a:p>
            <a:pPr algn="l">
              <a:lnSpc>
                <a:spcPts val="2940"/>
              </a:lnSpc>
            </a:pPr>
            <a:r>
              <a:rPr lang="en-US" sz="2100" spc="33">
                <a:solidFill>
                  <a:srgbClr val="00172C"/>
                </a:solidFill>
                <a:latin typeface="Open Sauce"/>
                <a:ea typeface="Open Sauce"/>
                <a:cs typeface="Open Sauce"/>
                <a:sym typeface="Open Sauce"/>
              </a:rPr>
              <a:t>• Random Forest</a:t>
            </a:r>
          </a:p>
          <a:p>
            <a:pPr algn="l">
              <a:lnSpc>
                <a:spcPts val="2940"/>
              </a:lnSpc>
            </a:pPr>
            <a:r>
              <a:rPr lang="en-US" sz="2100" spc="33">
                <a:solidFill>
                  <a:srgbClr val="00172C"/>
                </a:solidFill>
                <a:latin typeface="Open Sauce"/>
                <a:ea typeface="Open Sauce"/>
                <a:cs typeface="Open Sauce"/>
                <a:sym typeface="Open Sauce"/>
              </a:rPr>
              <a:t>• XGBoost</a:t>
            </a:r>
          </a:p>
          <a:p>
            <a:pPr algn="l">
              <a:lnSpc>
                <a:spcPts val="2940"/>
              </a:lnSpc>
            </a:pPr>
            <a:r>
              <a:rPr lang="en-US" sz="2100" spc="33">
                <a:solidFill>
                  <a:srgbClr val="00172C"/>
                </a:solidFill>
                <a:latin typeface="Open Sauce"/>
                <a:ea typeface="Open Sauce"/>
                <a:cs typeface="Open Sauce"/>
                <a:sym typeface="Open Sauce"/>
              </a:rPr>
              <a:t>• Decision Tree</a:t>
            </a:r>
          </a:p>
          <a:p>
            <a:pPr algn="l">
              <a:lnSpc>
                <a:spcPts val="29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28700" y="693183"/>
            <a:ext cx="3081706" cy="671033"/>
            <a:chOff x="0" y="0"/>
            <a:chExt cx="1160243" cy="252640"/>
          </a:xfrm>
        </p:grpSpPr>
        <p:sp>
          <p:nvSpPr>
            <p:cNvPr name="Freeform 3" id="3"/>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4" id="4"/>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102862" y="1874083"/>
            <a:ext cx="5156438" cy="3624028"/>
            <a:chOff x="0" y="0"/>
            <a:chExt cx="1358074" cy="954477"/>
          </a:xfrm>
        </p:grpSpPr>
        <p:sp>
          <p:nvSpPr>
            <p:cNvPr name="Freeform 7" id="7"/>
            <p:cNvSpPr/>
            <p:nvPr/>
          </p:nvSpPr>
          <p:spPr>
            <a:xfrm flipH="false" flipV="false" rot="0">
              <a:off x="0" y="0"/>
              <a:ext cx="1358074" cy="954477"/>
            </a:xfrm>
            <a:custGeom>
              <a:avLst/>
              <a:gdLst/>
              <a:ahLst/>
              <a:cxnLst/>
              <a:rect r="r" b="b" t="t" l="l"/>
              <a:pathLst>
                <a:path h="954477" w="1358074">
                  <a:moveTo>
                    <a:pt x="54051" y="0"/>
                  </a:moveTo>
                  <a:lnTo>
                    <a:pt x="1304024" y="0"/>
                  </a:lnTo>
                  <a:cubicBezTo>
                    <a:pt x="1318359" y="0"/>
                    <a:pt x="1332107" y="5695"/>
                    <a:pt x="1342243" y="15831"/>
                  </a:cubicBezTo>
                  <a:cubicBezTo>
                    <a:pt x="1352380" y="25968"/>
                    <a:pt x="1358074" y="39716"/>
                    <a:pt x="1358074" y="54051"/>
                  </a:cubicBezTo>
                  <a:lnTo>
                    <a:pt x="1358074" y="900426"/>
                  </a:lnTo>
                  <a:cubicBezTo>
                    <a:pt x="1358074" y="914761"/>
                    <a:pt x="1352380" y="928509"/>
                    <a:pt x="1342243" y="938646"/>
                  </a:cubicBezTo>
                  <a:cubicBezTo>
                    <a:pt x="1332107" y="948782"/>
                    <a:pt x="1318359" y="954477"/>
                    <a:pt x="1304024" y="954477"/>
                  </a:cubicBezTo>
                  <a:lnTo>
                    <a:pt x="54051" y="954477"/>
                  </a:lnTo>
                  <a:cubicBezTo>
                    <a:pt x="39716" y="954477"/>
                    <a:pt x="25968" y="948782"/>
                    <a:pt x="15831" y="938646"/>
                  </a:cubicBezTo>
                  <a:cubicBezTo>
                    <a:pt x="5695" y="928509"/>
                    <a:pt x="0" y="914761"/>
                    <a:pt x="0" y="900426"/>
                  </a:cubicBezTo>
                  <a:lnTo>
                    <a:pt x="0" y="54051"/>
                  </a:lnTo>
                  <a:cubicBezTo>
                    <a:pt x="0" y="39716"/>
                    <a:pt x="5695" y="25968"/>
                    <a:pt x="15831" y="15831"/>
                  </a:cubicBezTo>
                  <a:cubicBezTo>
                    <a:pt x="25968" y="5695"/>
                    <a:pt x="39716" y="0"/>
                    <a:pt x="54051" y="0"/>
                  </a:cubicBezTo>
                  <a:close/>
                </a:path>
              </a:pathLst>
            </a:custGeom>
            <a:solidFill>
              <a:srgbClr val="F8FCFF"/>
            </a:solidFill>
            <a:ln w="38100" cap="rnd">
              <a:solidFill>
                <a:srgbClr val="00172C"/>
              </a:solidFill>
              <a:prstDash val="solid"/>
              <a:round/>
            </a:ln>
          </p:spPr>
        </p:sp>
        <p:sp>
          <p:nvSpPr>
            <p:cNvPr name="TextBox 8" id="8"/>
            <p:cNvSpPr txBox="true"/>
            <p:nvPr/>
          </p:nvSpPr>
          <p:spPr>
            <a:xfrm>
              <a:off x="0" y="9525"/>
              <a:ext cx="1358074" cy="944952"/>
            </a:xfrm>
            <a:prstGeom prst="rect">
              <a:avLst/>
            </a:prstGeom>
          </p:spPr>
          <p:txBody>
            <a:bodyPr anchor="ctr" rtlCol="false" tIns="50800" lIns="50800" bIns="50800" rIns="50800"/>
            <a:lstStyle/>
            <a:p>
              <a:pPr algn="ctr">
                <a:lnSpc>
                  <a:spcPts val="2372"/>
                </a:lnSpc>
              </a:pPr>
            </a:p>
          </p:txBody>
        </p:sp>
      </p:grpSp>
      <p:grpSp>
        <p:nvGrpSpPr>
          <p:cNvPr name="Group 9" id="9"/>
          <p:cNvGrpSpPr/>
          <p:nvPr/>
        </p:nvGrpSpPr>
        <p:grpSpPr>
          <a:xfrm rot="0">
            <a:off x="6786422" y="1874083"/>
            <a:ext cx="5156438" cy="3624028"/>
            <a:chOff x="0" y="0"/>
            <a:chExt cx="1358074" cy="954477"/>
          </a:xfrm>
        </p:grpSpPr>
        <p:sp>
          <p:nvSpPr>
            <p:cNvPr name="Freeform 10" id="10"/>
            <p:cNvSpPr/>
            <p:nvPr/>
          </p:nvSpPr>
          <p:spPr>
            <a:xfrm flipH="false" flipV="false" rot="0">
              <a:off x="0" y="0"/>
              <a:ext cx="1358074" cy="954477"/>
            </a:xfrm>
            <a:custGeom>
              <a:avLst/>
              <a:gdLst/>
              <a:ahLst/>
              <a:cxnLst/>
              <a:rect r="r" b="b" t="t" l="l"/>
              <a:pathLst>
                <a:path h="954477" w="1358074">
                  <a:moveTo>
                    <a:pt x="54051" y="0"/>
                  </a:moveTo>
                  <a:lnTo>
                    <a:pt x="1304024" y="0"/>
                  </a:lnTo>
                  <a:cubicBezTo>
                    <a:pt x="1318359" y="0"/>
                    <a:pt x="1332107" y="5695"/>
                    <a:pt x="1342243" y="15831"/>
                  </a:cubicBezTo>
                  <a:cubicBezTo>
                    <a:pt x="1352380" y="25968"/>
                    <a:pt x="1358074" y="39716"/>
                    <a:pt x="1358074" y="54051"/>
                  </a:cubicBezTo>
                  <a:lnTo>
                    <a:pt x="1358074" y="900426"/>
                  </a:lnTo>
                  <a:cubicBezTo>
                    <a:pt x="1358074" y="914761"/>
                    <a:pt x="1352380" y="928509"/>
                    <a:pt x="1342243" y="938646"/>
                  </a:cubicBezTo>
                  <a:cubicBezTo>
                    <a:pt x="1332107" y="948782"/>
                    <a:pt x="1318359" y="954477"/>
                    <a:pt x="1304024" y="954477"/>
                  </a:cubicBezTo>
                  <a:lnTo>
                    <a:pt x="54051" y="954477"/>
                  </a:lnTo>
                  <a:cubicBezTo>
                    <a:pt x="39716" y="954477"/>
                    <a:pt x="25968" y="948782"/>
                    <a:pt x="15831" y="938646"/>
                  </a:cubicBezTo>
                  <a:cubicBezTo>
                    <a:pt x="5695" y="928509"/>
                    <a:pt x="0" y="914761"/>
                    <a:pt x="0" y="900426"/>
                  </a:cubicBezTo>
                  <a:lnTo>
                    <a:pt x="0" y="54051"/>
                  </a:lnTo>
                  <a:cubicBezTo>
                    <a:pt x="0" y="39716"/>
                    <a:pt x="5695" y="25968"/>
                    <a:pt x="15831" y="15831"/>
                  </a:cubicBezTo>
                  <a:cubicBezTo>
                    <a:pt x="25968" y="5695"/>
                    <a:pt x="39716" y="0"/>
                    <a:pt x="54051" y="0"/>
                  </a:cubicBezTo>
                  <a:close/>
                </a:path>
              </a:pathLst>
            </a:custGeom>
            <a:solidFill>
              <a:srgbClr val="F8FCFF"/>
            </a:solidFill>
            <a:ln w="38100" cap="rnd">
              <a:solidFill>
                <a:srgbClr val="00172C"/>
              </a:solidFill>
              <a:prstDash val="solid"/>
              <a:round/>
            </a:ln>
          </p:spPr>
        </p:sp>
        <p:sp>
          <p:nvSpPr>
            <p:cNvPr name="TextBox 11" id="11"/>
            <p:cNvSpPr txBox="true"/>
            <p:nvPr/>
          </p:nvSpPr>
          <p:spPr>
            <a:xfrm>
              <a:off x="0" y="9525"/>
              <a:ext cx="1358074" cy="944952"/>
            </a:xfrm>
            <a:prstGeom prst="rect">
              <a:avLst/>
            </a:prstGeom>
          </p:spPr>
          <p:txBody>
            <a:bodyPr anchor="ctr" rtlCol="false" tIns="50800" lIns="50800" bIns="50800" rIns="50800"/>
            <a:lstStyle/>
            <a:p>
              <a:pPr algn="ctr">
                <a:lnSpc>
                  <a:spcPts val="2372"/>
                </a:lnSpc>
              </a:pPr>
            </a:p>
          </p:txBody>
        </p:sp>
      </p:grpSp>
      <p:grpSp>
        <p:nvGrpSpPr>
          <p:cNvPr name="Group 12" id="12"/>
          <p:cNvGrpSpPr/>
          <p:nvPr/>
        </p:nvGrpSpPr>
        <p:grpSpPr>
          <a:xfrm rot="0">
            <a:off x="12102862" y="5634272"/>
            <a:ext cx="5156438" cy="3624028"/>
            <a:chOff x="0" y="0"/>
            <a:chExt cx="1358074" cy="954477"/>
          </a:xfrm>
        </p:grpSpPr>
        <p:sp>
          <p:nvSpPr>
            <p:cNvPr name="Freeform 13" id="13"/>
            <p:cNvSpPr/>
            <p:nvPr/>
          </p:nvSpPr>
          <p:spPr>
            <a:xfrm flipH="false" flipV="false" rot="0">
              <a:off x="0" y="0"/>
              <a:ext cx="1358074" cy="954477"/>
            </a:xfrm>
            <a:custGeom>
              <a:avLst/>
              <a:gdLst/>
              <a:ahLst/>
              <a:cxnLst/>
              <a:rect r="r" b="b" t="t" l="l"/>
              <a:pathLst>
                <a:path h="954477" w="1358074">
                  <a:moveTo>
                    <a:pt x="54051" y="0"/>
                  </a:moveTo>
                  <a:lnTo>
                    <a:pt x="1304024" y="0"/>
                  </a:lnTo>
                  <a:cubicBezTo>
                    <a:pt x="1318359" y="0"/>
                    <a:pt x="1332107" y="5695"/>
                    <a:pt x="1342243" y="15831"/>
                  </a:cubicBezTo>
                  <a:cubicBezTo>
                    <a:pt x="1352380" y="25968"/>
                    <a:pt x="1358074" y="39716"/>
                    <a:pt x="1358074" y="54051"/>
                  </a:cubicBezTo>
                  <a:lnTo>
                    <a:pt x="1358074" y="900426"/>
                  </a:lnTo>
                  <a:cubicBezTo>
                    <a:pt x="1358074" y="914761"/>
                    <a:pt x="1352380" y="928509"/>
                    <a:pt x="1342243" y="938646"/>
                  </a:cubicBezTo>
                  <a:cubicBezTo>
                    <a:pt x="1332107" y="948782"/>
                    <a:pt x="1318359" y="954477"/>
                    <a:pt x="1304024" y="954477"/>
                  </a:cubicBezTo>
                  <a:lnTo>
                    <a:pt x="54051" y="954477"/>
                  </a:lnTo>
                  <a:cubicBezTo>
                    <a:pt x="39716" y="954477"/>
                    <a:pt x="25968" y="948782"/>
                    <a:pt x="15831" y="938646"/>
                  </a:cubicBezTo>
                  <a:cubicBezTo>
                    <a:pt x="5695" y="928509"/>
                    <a:pt x="0" y="914761"/>
                    <a:pt x="0" y="900426"/>
                  </a:cubicBezTo>
                  <a:lnTo>
                    <a:pt x="0" y="54051"/>
                  </a:lnTo>
                  <a:cubicBezTo>
                    <a:pt x="0" y="39716"/>
                    <a:pt x="5695" y="25968"/>
                    <a:pt x="15831" y="15831"/>
                  </a:cubicBezTo>
                  <a:cubicBezTo>
                    <a:pt x="25968" y="5695"/>
                    <a:pt x="39716" y="0"/>
                    <a:pt x="54051" y="0"/>
                  </a:cubicBezTo>
                  <a:close/>
                </a:path>
              </a:pathLst>
            </a:custGeom>
            <a:solidFill>
              <a:srgbClr val="F8FCFF"/>
            </a:solidFill>
            <a:ln w="38100" cap="rnd">
              <a:solidFill>
                <a:srgbClr val="00172C"/>
              </a:solidFill>
              <a:prstDash val="solid"/>
              <a:round/>
            </a:ln>
          </p:spPr>
        </p:sp>
        <p:sp>
          <p:nvSpPr>
            <p:cNvPr name="TextBox 14" id="14"/>
            <p:cNvSpPr txBox="true"/>
            <p:nvPr/>
          </p:nvSpPr>
          <p:spPr>
            <a:xfrm>
              <a:off x="0" y="9525"/>
              <a:ext cx="1358074" cy="944952"/>
            </a:xfrm>
            <a:prstGeom prst="rect">
              <a:avLst/>
            </a:prstGeom>
          </p:spPr>
          <p:txBody>
            <a:bodyPr anchor="ctr" rtlCol="false" tIns="50800" lIns="50800" bIns="50800" rIns="50800"/>
            <a:lstStyle/>
            <a:p>
              <a:pPr algn="ctr">
                <a:lnSpc>
                  <a:spcPts val="2372"/>
                </a:lnSpc>
              </a:pPr>
            </a:p>
          </p:txBody>
        </p:sp>
      </p:grpSp>
      <p:grpSp>
        <p:nvGrpSpPr>
          <p:cNvPr name="Group 15" id="15"/>
          <p:cNvGrpSpPr/>
          <p:nvPr/>
        </p:nvGrpSpPr>
        <p:grpSpPr>
          <a:xfrm rot="0">
            <a:off x="6786422" y="5634272"/>
            <a:ext cx="5156438" cy="3624028"/>
            <a:chOff x="0" y="0"/>
            <a:chExt cx="1358074" cy="954477"/>
          </a:xfrm>
        </p:grpSpPr>
        <p:sp>
          <p:nvSpPr>
            <p:cNvPr name="Freeform 16" id="16"/>
            <p:cNvSpPr/>
            <p:nvPr/>
          </p:nvSpPr>
          <p:spPr>
            <a:xfrm flipH="false" flipV="false" rot="0">
              <a:off x="0" y="0"/>
              <a:ext cx="1358074" cy="954477"/>
            </a:xfrm>
            <a:custGeom>
              <a:avLst/>
              <a:gdLst/>
              <a:ahLst/>
              <a:cxnLst/>
              <a:rect r="r" b="b" t="t" l="l"/>
              <a:pathLst>
                <a:path h="954477" w="1358074">
                  <a:moveTo>
                    <a:pt x="54051" y="0"/>
                  </a:moveTo>
                  <a:lnTo>
                    <a:pt x="1304024" y="0"/>
                  </a:lnTo>
                  <a:cubicBezTo>
                    <a:pt x="1318359" y="0"/>
                    <a:pt x="1332107" y="5695"/>
                    <a:pt x="1342243" y="15831"/>
                  </a:cubicBezTo>
                  <a:cubicBezTo>
                    <a:pt x="1352380" y="25968"/>
                    <a:pt x="1358074" y="39716"/>
                    <a:pt x="1358074" y="54051"/>
                  </a:cubicBezTo>
                  <a:lnTo>
                    <a:pt x="1358074" y="900426"/>
                  </a:lnTo>
                  <a:cubicBezTo>
                    <a:pt x="1358074" y="914761"/>
                    <a:pt x="1352380" y="928509"/>
                    <a:pt x="1342243" y="938646"/>
                  </a:cubicBezTo>
                  <a:cubicBezTo>
                    <a:pt x="1332107" y="948782"/>
                    <a:pt x="1318359" y="954477"/>
                    <a:pt x="1304024" y="954477"/>
                  </a:cubicBezTo>
                  <a:lnTo>
                    <a:pt x="54051" y="954477"/>
                  </a:lnTo>
                  <a:cubicBezTo>
                    <a:pt x="39716" y="954477"/>
                    <a:pt x="25968" y="948782"/>
                    <a:pt x="15831" y="938646"/>
                  </a:cubicBezTo>
                  <a:cubicBezTo>
                    <a:pt x="5695" y="928509"/>
                    <a:pt x="0" y="914761"/>
                    <a:pt x="0" y="900426"/>
                  </a:cubicBezTo>
                  <a:lnTo>
                    <a:pt x="0" y="54051"/>
                  </a:lnTo>
                  <a:cubicBezTo>
                    <a:pt x="0" y="39716"/>
                    <a:pt x="5695" y="25968"/>
                    <a:pt x="15831" y="15831"/>
                  </a:cubicBezTo>
                  <a:cubicBezTo>
                    <a:pt x="25968" y="5695"/>
                    <a:pt x="39716" y="0"/>
                    <a:pt x="54051" y="0"/>
                  </a:cubicBezTo>
                  <a:close/>
                </a:path>
              </a:pathLst>
            </a:custGeom>
            <a:solidFill>
              <a:srgbClr val="F8FCFF"/>
            </a:solidFill>
            <a:ln w="38100" cap="rnd">
              <a:solidFill>
                <a:srgbClr val="00172C"/>
              </a:solidFill>
              <a:prstDash val="solid"/>
              <a:round/>
            </a:ln>
          </p:spPr>
        </p:sp>
        <p:sp>
          <p:nvSpPr>
            <p:cNvPr name="TextBox 17" id="17"/>
            <p:cNvSpPr txBox="true"/>
            <p:nvPr/>
          </p:nvSpPr>
          <p:spPr>
            <a:xfrm>
              <a:off x="0" y="9525"/>
              <a:ext cx="1358074" cy="944952"/>
            </a:xfrm>
            <a:prstGeom prst="rect">
              <a:avLst/>
            </a:prstGeom>
          </p:spPr>
          <p:txBody>
            <a:bodyPr anchor="ctr" rtlCol="false" tIns="50800" lIns="50800" bIns="50800" rIns="50800"/>
            <a:lstStyle/>
            <a:p>
              <a:pPr algn="ctr">
                <a:lnSpc>
                  <a:spcPts val="2372"/>
                </a:lnSpc>
              </a:pPr>
            </a:p>
          </p:txBody>
        </p:sp>
      </p:grpSp>
      <p:grpSp>
        <p:nvGrpSpPr>
          <p:cNvPr name="Group 18" id="18"/>
          <p:cNvGrpSpPr/>
          <p:nvPr/>
        </p:nvGrpSpPr>
        <p:grpSpPr>
          <a:xfrm rot="0">
            <a:off x="142031" y="4333163"/>
            <a:ext cx="6341225" cy="5380490"/>
            <a:chOff x="0" y="0"/>
            <a:chExt cx="1524070" cy="1293164"/>
          </a:xfrm>
        </p:grpSpPr>
        <p:sp>
          <p:nvSpPr>
            <p:cNvPr name="Freeform 19" id="19"/>
            <p:cNvSpPr/>
            <p:nvPr/>
          </p:nvSpPr>
          <p:spPr>
            <a:xfrm flipH="false" flipV="false" rot="0">
              <a:off x="0" y="0"/>
              <a:ext cx="1524070" cy="1293164"/>
            </a:xfrm>
            <a:custGeom>
              <a:avLst/>
              <a:gdLst/>
              <a:ahLst/>
              <a:cxnLst/>
              <a:rect r="r" b="b" t="t" l="l"/>
              <a:pathLst>
                <a:path h="1293164" w="1524070">
                  <a:moveTo>
                    <a:pt x="46394" y="0"/>
                  </a:moveTo>
                  <a:lnTo>
                    <a:pt x="1477676" y="0"/>
                  </a:lnTo>
                  <a:cubicBezTo>
                    <a:pt x="1503299" y="0"/>
                    <a:pt x="1524070" y="20771"/>
                    <a:pt x="1524070" y="46394"/>
                  </a:cubicBezTo>
                  <a:lnTo>
                    <a:pt x="1524070" y="1246770"/>
                  </a:lnTo>
                  <a:cubicBezTo>
                    <a:pt x="1524070" y="1259075"/>
                    <a:pt x="1519182" y="1270875"/>
                    <a:pt x="1510482" y="1279576"/>
                  </a:cubicBezTo>
                  <a:cubicBezTo>
                    <a:pt x="1501781" y="1288276"/>
                    <a:pt x="1489981" y="1293164"/>
                    <a:pt x="1477676" y="1293164"/>
                  </a:cubicBezTo>
                  <a:lnTo>
                    <a:pt x="46394" y="1293164"/>
                  </a:lnTo>
                  <a:cubicBezTo>
                    <a:pt x="34089" y="1293164"/>
                    <a:pt x="22289" y="1288276"/>
                    <a:pt x="13588" y="1279576"/>
                  </a:cubicBezTo>
                  <a:cubicBezTo>
                    <a:pt x="4888" y="1270875"/>
                    <a:pt x="0" y="1259075"/>
                    <a:pt x="0" y="1246770"/>
                  </a:cubicBezTo>
                  <a:lnTo>
                    <a:pt x="0" y="46394"/>
                  </a:lnTo>
                  <a:cubicBezTo>
                    <a:pt x="0" y="34089"/>
                    <a:pt x="4888" y="22289"/>
                    <a:pt x="13588" y="13588"/>
                  </a:cubicBezTo>
                  <a:cubicBezTo>
                    <a:pt x="22289" y="4888"/>
                    <a:pt x="34089" y="0"/>
                    <a:pt x="46394" y="0"/>
                  </a:cubicBezTo>
                  <a:close/>
                </a:path>
              </a:pathLst>
            </a:custGeom>
            <a:blipFill>
              <a:blip r:embed="rId4"/>
              <a:stretch>
                <a:fillRect l="-30460" t="0" r="-30460" b="0"/>
              </a:stretch>
            </a:blipFill>
          </p:spPr>
        </p:sp>
      </p:grpSp>
      <p:sp>
        <p:nvSpPr>
          <p:cNvPr name="Freeform 20" id="20"/>
          <p:cNvSpPr/>
          <p:nvPr/>
        </p:nvSpPr>
        <p:spPr>
          <a:xfrm flipH="false" flipV="false" rot="0">
            <a:off x="10267140" y="2450099"/>
            <a:ext cx="1087678" cy="1235998"/>
          </a:xfrm>
          <a:custGeom>
            <a:avLst/>
            <a:gdLst/>
            <a:ahLst/>
            <a:cxnLst/>
            <a:rect r="r" b="b" t="t" l="l"/>
            <a:pathLst>
              <a:path h="1235998" w="1087678">
                <a:moveTo>
                  <a:pt x="0" y="0"/>
                </a:moveTo>
                <a:lnTo>
                  <a:pt x="1087678" y="0"/>
                </a:lnTo>
                <a:lnTo>
                  <a:pt x="1087678" y="1235998"/>
                </a:lnTo>
                <a:lnTo>
                  <a:pt x="0" y="12359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6981227" y="3932509"/>
            <a:ext cx="4325546" cy="1455351"/>
            <a:chOff x="0" y="0"/>
            <a:chExt cx="1139238" cy="383302"/>
          </a:xfrm>
        </p:grpSpPr>
        <p:sp>
          <p:nvSpPr>
            <p:cNvPr name="Freeform 22" id="22"/>
            <p:cNvSpPr/>
            <p:nvPr/>
          </p:nvSpPr>
          <p:spPr>
            <a:xfrm flipH="false" flipV="false" rot="0">
              <a:off x="0" y="0"/>
              <a:ext cx="1139238" cy="383302"/>
            </a:xfrm>
            <a:custGeom>
              <a:avLst/>
              <a:gdLst/>
              <a:ahLst/>
              <a:cxnLst/>
              <a:rect r="r" b="b" t="t" l="l"/>
              <a:pathLst>
                <a:path h="383302" w="1139238">
                  <a:moveTo>
                    <a:pt x="91280" y="0"/>
                  </a:moveTo>
                  <a:lnTo>
                    <a:pt x="1047958" y="0"/>
                  </a:lnTo>
                  <a:cubicBezTo>
                    <a:pt x="1072167" y="0"/>
                    <a:pt x="1095384" y="9617"/>
                    <a:pt x="1112503" y="26735"/>
                  </a:cubicBezTo>
                  <a:cubicBezTo>
                    <a:pt x="1129621" y="43854"/>
                    <a:pt x="1139238" y="67071"/>
                    <a:pt x="1139238" y="91280"/>
                  </a:cubicBezTo>
                  <a:lnTo>
                    <a:pt x="1139238" y="292022"/>
                  </a:lnTo>
                  <a:cubicBezTo>
                    <a:pt x="1139238" y="316231"/>
                    <a:pt x="1129621" y="339448"/>
                    <a:pt x="1112503" y="356567"/>
                  </a:cubicBezTo>
                  <a:cubicBezTo>
                    <a:pt x="1095384" y="373685"/>
                    <a:pt x="1072167" y="383302"/>
                    <a:pt x="1047958" y="383302"/>
                  </a:cubicBezTo>
                  <a:lnTo>
                    <a:pt x="91280" y="383302"/>
                  </a:lnTo>
                  <a:cubicBezTo>
                    <a:pt x="67071" y="383302"/>
                    <a:pt x="43854" y="373685"/>
                    <a:pt x="26735" y="356567"/>
                  </a:cubicBezTo>
                  <a:cubicBezTo>
                    <a:pt x="9617" y="339448"/>
                    <a:pt x="0" y="316231"/>
                    <a:pt x="0" y="292022"/>
                  </a:cubicBezTo>
                  <a:lnTo>
                    <a:pt x="0" y="91280"/>
                  </a:lnTo>
                  <a:cubicBezTo>
                    <a:pt x="0" y="67071"/>
                    <a:pt x="9617" y="43854"/>
                    <a:pt x="26735" y="26735"/>
                  </a:cubicBezTo>
                  <a:cubicBezTo>
                    <a:pt x="43854" y="9617"/>
                    <a:pt x="67071" y="0"/>
                    <a:pt x="91280" y="0"/>
                  </a:cubicBezTo>
                  <a:close/>
                </a:path>
              </a:pathLst>
            </a:custGeom>
            <a:solidFill>
              <a:srgbClr val="00172C"/>
            </a:solidFill>
            <a:ln w="38100" cap="rnd">
              <a:solidFill>
                <a:srgbClr val="00172C"/>
              </a:solidFill>
              <a:prstDash val="solid"/>
              <a:round/>
            </a:ln>
          </p:spPr>
        </p:sp>
        <p:sp>
          <p:nvSpPr>
            <p:cNvPr name="TextBox 23" id="23"/>
            <p:cNvSpPr txBox="true"/>
            <p:nvPr/>
          </p:nvSpPr>
          <p:spPr>
            <a:xfrm>
              <a:off x="0" y="9525"/>
              <a:ext cx="1139238" cy="373777"/>
            </a:xfrm>
            <a:prstGeom prst="rect">
              <a:avLst/>
            </a:prstGeom>
          </p:spPr>
          <p:txBody>
            <a:bodyPr anchor="ctr" rtlCol="false" tIns="50800" lIns="50800" bIns="50800" rIns="50800"/>
            <a:lstStyle/>
            <a:p>
              <a:pPr algn="ctr">
                <a:lnSpc>
                  <a:spcPts val="2372"/>
                </a:lnSpc>
              </a:pPr>
            </a:p>
          </p:txBody>
        </p:sp>
      </p:grpSp>
      <p:grpSp>
        <p:nvGrpSpPr>
          <p:cNvPr name="Group 24" id="24"/>
          <p:cNvGrpSpPr/>
          <p:nvPr/>
        </p:nvGrpSpPr>
        <p:grpSpPr>
          <a:xfrm rot="0">
            <a:off x="12314236" y="3934529"/>
            <a:ext cx="4415856" cy="1470801"/>
            <a:chOff x="0" y="0"/>
            <a:chExt cx="1163024" cy="387371"/>
          </a:xfrm>
        </p:grpSpPr>
        <p:sp>
          <p:nvSpPr>
            <p:cNvPr name="Freeform 25" id="25"/>
            <p:cNvSpPr/>
            <p:nvPr/>
          </p:nvSpPr>
          <p:spPr>
            <a:xfrm flipH="false" flipV="false" rot="0">
              <a:off x="0" y="0"/>
              <a:ext cx="1163024" cy="387371"/>
            </a:xfrm>
            <a:custGeom>
              <a:avLst/>
              <a:gdLst/>
              <a:ahLst/>
              <a:cxnLst/>
              <a:rect r="r" b="b" t="t" l="l"/>
              <a:pathLst>
                <a:path h="387371" w="1163024">
                  <a:moveTo>
                    <a:pt x="89414" y="0"/>
                  </a:moveTo>
                  <a:lnTo>
                    <a:pt x="1073610" y="0"/>
                  </a:lnTo>
                  <a:cubicBezTo>
                    <a:pt x="1097324" y="0"/>
                    <a:pt x="1120067" y="9420"/>
                    <a:pt x="1136835" y="26189"/>
                  </a:cubicBezTo>
                  <a:cubicBezTo>
                    <a:pt x="1153603" y="42957"/>
                    <a:pt x="1163024" y="65700"/>
                    <a:pt x="1163024" y="89414"/>
                  </a:cubicBezTo>
                  <a:lnTo>
                    <a:pt x="1163024" y="297958"/>
                  </a:lnTo>
                  <a:cubicBezTo>
                    <a:pt x="1163024" y="347340"/>
                    <a:pt x="1122992" y="387371"/>
                    <a:pt x="1073610" y="387371"/>
                  </a:cubicBezTo>
                  <a:lnTo>
                    <a:pt x="89414" y="387371"/>
                  </a:lnTo>
                  <a:cubicBezTo>
                    <a:pt x="40032" y="387371"/>
                    <a:pt x="0" y="347340"/>
                    <a:pt x="0" y="297958"/>
                  </a:cubicBezTo>
                  <a:lnTo>
                    <a:pt x="0" y="89414"/>
                  </a:lnTo>
                  <a:cubicBezTo>
                    <a:pt x="0" y="40032"/>
                    <a:pt x="40032" y="0"/>
                    <a:pt x="89414" y="0"/>
                  </a:cubicBezTo>
                  <a:close/>
                </a:path>
              </a:pathLst>
            </a:custGeom>
            <a:solidFill>
              <a:srgbClr val="00172C"/>
            </a:solidFill>
            <a:ln w="38100" cap="rnd">
              <a:solidFill>
                <a:srgbClr val="00172C"/>
              </a:solidFill>
              <a:prstDash val="solid"/>
              <a:round/>
            </a:ln>
          </p:spPr>
        </p:sp>
        <p:sp>
          <p:nvSpPr>
            <p:cNvPr name="TextBox 26" id="26"/>
            <p:cNvSpPr txBox="true"/>
            <p:nvPr/>
          </p:nvSpPr>
          <p:spPr>
            <a:xfrm>
              <a:off x="0" y="9525"/>
              <a:ext cx="1163024" cy="377846"/>
            </a:xfrm>
            <a:prstGeom prst="rect">
              <a:avLst/>
            </a:prstGeom>
          </p:spPr>
          <p:txBody>
            <a:bodyPr anchor="ctr" rtlCol="false" tIns="50800" lIns="50800" bIns="50800" rIns="50800"/>
            <a:lstStyle/>
            <a:p>
              <a:pPr algn="ctr">
                <a:lnSpc>
                  <a:spcPts val="2372"/>
                </a:lnSpc>
              </a:pPr>
            </a:p>
          </p:txBody>
        </p:sp>
      </p:grpSp>
      <p:grpSp>
        <p:nvGrpSpPr>
          <p:cNvPr name="Group 27" id="27"/>
          <p:cNvGrpSpPr/>
          <p:nvPr/>
        </p:nvGrpSpPr>
        <p:grpSpPr>
          <a:xfrm rot="0">
            <a:off x="7256459" y="7611763"/>
            <a:ext cx="4264675" cy="1475641"/>
            <a:chOff x="0" y="0"/>
            <a:chExt cx="1123207" cy="388646"/>
          </a:xfrm>
        </p:grpSpPr>
        <p:sp>
          <p:nvSpPr>
            <p:cNvPr name="Freeform 28" id="28"/>
            <p:cNvSpPr/>
            <p:nvPr/>
          </p:nvSpPr>
          <p:spPr>
            <a:xfrm flipH="false" flipV="false" rot="0">
              <a:off x="0" y="0"/>
              <a:ext cx="1123207" cy="388646"/>
            </a:xfrm>
            <a:custGeom>
              <a:avLst/>
              <a:gdLst/>
              <a:ahLst/>
              <a:cxnLst/>
              <a:rect r="r" b="b" t="t" l="l"/>
              <a:pathLst>
                <a:path h="388646" w="1123207">
                  <a:moveTo>
                    <a:pt x="92583" y="0"/>
                  </a:moveTo>
                  <a:lnTo>
                    <a:pt x="1030623" y="0"/>
                  </a:lnTo>
                  <a:cubicBezTo>
                    <a:pt x="1055178" y="0"/>
                    <a:pt x="1078727" y="9754"/>
                    <a:pt x="1096090" y="27117"/>
                  </a:cubicBezTo>
                  <a:cubicBezTo>
                    <a:pt x="1113452" y="44480"/>
                    <a:pt x="1123207" y="68029"/>
                    <a:pt x="1123207" y="92583"/>
                  </a:cubicBezTo>
                  <a:lnTo>
                    <a:pt x="1123207" y="296063"/>
                  </a:lnTo>
                  <a:cubicBezTo>
                    <a:pt x="1123207" y="320617"/>
                    <a:pt x="1113452" y="344166"/>
                    <a:pt x="1096090" y="361529"/>
                  </a:cubicBezTo>
                  <a:cubicBezTo>
                    <a:pt x="1078727" y="378892"/>
                    <a:pt x="1055178" y="388646"/>
                    <a:pt x="1030623" y="388646"/>
                  </a:cubicBezTo>
                  <a:lnTo>
                    <a:pt x="92583" y="388646"/>
                  </a:lnTo>
                  <a:cubicBezTo>
                    <a:pt x="68029" y="388646"/>
                    <a:pt x="44480" y="378892"/>
                    <a:pt x="27117" y="361529"/>
                  </a:cubicBezTo>
                  <a:cubicBezTo>
                    <a:pt x="9754" y="344166"/>
                    <a:pt x="0" y="320617"/>
                    <a:pt x="0" y="296063"/>
                  </a:cubicBezTo>
                  <a:lnTo>
                    <a:pt x="0" y="92583"/>
                  </a:lnTo>
                  <a:cubicBezTo>
                    <a:pt x="0" y="68029"/>
                    <a:pt x="9754" y="44480"/>
                    <a:pt x="27117" y="27117"/>
                  </a:cubicBezTo>
                  <a:cubicBezTo>
                    <a:pt x="44480" y="9754"/>
                    <a:pt x="68029" y="0"/>
                    <a:pt x="92583" y="0"/>
                  </a:cubicBezTo>
                  <a:close/>
                </a:path>
              </a:pathLst>
            </a:custGeom>
            <a:solidFill>
              <a:srgbClr val="00172C"/>
            </a:solidFill>
            <a:ln w="38100" cap="rnd">
              <a:solidFill>
                <a:srgbClr val="00172C"/>
              </a:solidFill>
              <a:prstDash val="solid"/>
              <a:round/>
            </a:ln>
          </p:spPr>
        </p:sp>
        <p:sp>
          <p:nvSpPr>
            <p:cNvPr name="TextBox 29" id="29"/>
            <p:cNvSpPr txBox="true"/>
            <p:nvPr/>
          </p:nvSpPr>
          <p:spPr>
            <a:xfrm>
              <a:off x="0" y="9525"/>
              <a:ext cx="1123207" cy="379121"/>
            </a:xfrm>
            <a:prstGeom prst="rect">
              <a:avLst/>
            </a:prstGeom>
          </p:spPr>
          <p:txBody>
            <a:bodyPr anchor="ctr" rtlCol="false" tIns="50800" lIns="50800" bIns="50800" rIns="50800"/>
            <a:lstStyle/>
            <a:p>
              <a:pPr algn="ctr">
                <a:lnSpc>
                  <a:spcPts val="2372"/>
                </a:lnSpc>
              </a:pPr>
            </a:p>
          </p:txBody>
        </p:sp>
      </p:grpSp>
      <p:grpSp>
        <p:nvGrpSpPr>
          <p:cNvPr name="Group 30" id="30"/>
          <p:cNvGrpSpPr/>
          <p:nvPr/>
        </p:nvGrpSpPr>
        <p:grpSpPr>
          <a:xfrm rot="0">
            <a:off x="12632380" y="7647652"/>
            <a:ext cx="4158581" cy="1439265"/>
            <a:chOff x="0" y="0"/>
            <a:chExt cx="1095264" cy="379066"/>
          </a:xfrm>
        </p:grpSpPr>
        <p:sp>
          <p:nvSpPr>
            <p:cNvPr name="Freeform 31" id="31"/>
            <p:cNvSpPr/>
            <p:nvPr/>
          </p:nvSpPr>
          <p:spPr>
            <a:xfrm flipH="false" flipV="false" rot="0">
              <a:off x="0" y="0"/>
              <a:ext cx="1095264" cy="379066"/>
            </a:xfrm>
            <a:custGeom>
              <a:avLst/>
              <a:gdLst/>
              <a:ahLst/>
              <a:cxnLst/>
              <a:rect r="r" b="b" t="t" l="l"/>
              <a:pathLst>
                <a:path h="379066" w="1095264">
                  <a:moveTo>
                    <a:pt x="94945" y="0"/>
                  </a:moveTo>
                  <a:lnTo>
                    <a:pt x="1000319" y="0"/>
                  </a:lnTo>
                  <a:cubicBezTo>
                    <a:pt x="1025500" y="0"/>
                    <a:pt x="1049650" y="10003"/>
                    <a:pt x="1067455" y="27809"/>
                  </a:cubicBezTo>
                  <a:cubicBezTo>
                    <a:pt x="1085261" y="45615"/>
                    <a:pt x="1095264" y="69764"/>
                    <a:pt x="1095264" y="94945"/>
                  </a:cubicBezTo>
                  <a:lnTo>
                    <a:pt x="1095264" y="284120"/>
                  </a:lnTo>
                  <a:cubicBezTo>
                    <a:pt x="1095264" y="309302"/>
                    <a:pt x="1085261" y="333451"/>
                    <a:pt x="1067455" y="351257"/>
                  </a:cubicBezTo>
                  <a:cubicBezTo>
                    <a:pt x="1049650" y="369063"/>
                    <a:pt x="1025500" y="379066"/>
                    <a:pt x="1000319" y="379066"/>
                  </a:cubicBezTo>
                  <a:lnTo>
                    <a:pt x="94945" y="379066"/>
                  </a:lnTo>
                  <a:cubicBezTo>
                    <a:pt x="69764" y="379066"/>
                    <a:pt x="45615" y="369063"/>
                    <a:pt x="27809" y="351257"/>
                  </a:cubicBezTo>
                  <a:cubicBezTo>
                    <a:pt x="10003" y="333451"/>
                    <a:pt x="0" y="309302"/>
                    <a:pt x="0" y="284120"/>
                  </a:cubicBezTo>
                  <a:lnTo>
                    <a:pt x="0" y="94945"/>
                  </a:lnTo>
                  <a:cubicBezTo>
                    <a:pt x="0" y="69764"/>
                    <a:pt x="10003" y="45615"/>
                    <a:pt x="27809" y="27809"/>
                  </a:cubicBezTo>
                  <a:cubicBezTo>
                    <a:pt x="45615" y="10003"/>
                    <a:pt x="69764" y="0"/>
                    <a:pt x="94945" y="0"/>
                  </a:cubicBezTo>
                  <a:close/>
                </a:path>
              </a:pathLst>
            </a:custGeom>
            <a:solidFill>
              <a:srgbClr val="00172C"/>
            </a:solidFill>
            <a:ln w="38100" cap="rnd">
              <a:solidFill>
                <a:srgbClr val="00172C"/>
              </a:solidFill>
              <a:prstDash val="solid"/>
              <a:round/>
            </a:ln>
          </p:spPr>
        </p:sp>
        <p:sp>
          <p:nvSpPr>
            <p:cNvPr name="TextBox 32" id="32"/>
            <p:cNvSpPr txBox="true"/>
            <p:nvPr/>
          </p:nvSpPr>
          <p:spPr>
            <a:xfrm>
              <a:off x="0" y="9525"/>
              <a:ext cx="1095264" cy="369541"/>
            </a:xfrm>
            <a:prstGeom prst="rect">
              <a:avLst/>
            </a:prstGeom>
          </p:spPr>
          <p:txBody>
            <a:bodyPr anchor="ctr" rtlCol="false" tIns="50800" lIns="50800" bIns="50800" rIns="50800"/>
            <a:lstStyle/>
            <a:p>
              <a:pPr algn="ctr">
                <a:lnSpc>
                  <a:spcPts val="2372"/>
                </a:lnSpc>
              </a:pPr>
            </a:p>
          </p:txBody>
        </p:sp>
      </p:grpSp>
      <p:sp>
        <p:nvSpPr>
          <p:cNvPr name="Freeform 33" id="33"/>
          <p:cNvSpPr/>
          <p:nvPr/>
        </p:nvSpPr>
        <p:spPr>
          <a:xfrm flipH="false" flipV="false" rot="0">
            <a:off x="15378603" y="2450099"/>
            <a:ext cx="1351489" cy="1235998"/>
          </a:xfrm>
          <a:custGeom>
            <a:avLst/>
            <a:gdLst/>
            <a:ahLst/>
            <a:cxnLst/>
            <a:rect r="r" b="b" t="t" l="l"/>
            <a:pathLst>
              <a:path h="1235998" w="1351489">
                <a:moveTo>
                  <a:pt x="0" y="0"/>
                </a:moveTo>
                <a:lnTo>
                  <a:pt x="1351488" y="0"/>
                </a:lnTo>
                <a:lnTo>
                  <a:pt x="1351488" y="1235998"/>
                </a:lnTo>
                <a:lnTo>
                  <a:pt x="0" y="12359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10267140" y="6095127"/>
            <a:ext cx="1087678" cy="1105773"/>
          </a:xfrm>
          <a:custGeom>
            <a:avLst/>
            <a:gdLst/>
            <a:ahLst/>
            <a:cxnLst/>
            <a:rect r="r" b="b" t="t" l="l"/>
            <a:pathLst>
              <a:path h="1105773" w="1087678">
                <a:moveTo>
                  <a:pt x="0" y="0"/>
                </a:moveTo>
                <a:lnTo>
                  <a:pt x="1087678" y="0"/>
                </a:lnTo>
                <a:lnTo>
                  <a:pt x="1087678" y="1105773"/>
                </a:lnTo>
                <a:lnTo>
                  <a:pt x="0" y="11057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5378603" y="6095127"/>
            <a:ext cx="1124168" cy="1105773"/>
          </a:xfrm>
          <a:custGeom>
            <a:avLst/>
            <a:gdLst/>
            <a:ahLst/>
            <a:cxnLst/>
            <a:rect r="r" b="b" t="t" l="l"/>
            <a:pathLst>
              <a:path h="1105773" w="1124168">
                <a:moveTo>
                  <a:pt x="0" y="0"/>
                </a:moveTo>
                <a:lnTo>
                  <a:pt x="1124168" y="0"/>
                </a:lnTo>
                <a:lnTo>
                  <a:pt x="1124168" y="1105773"/>
                </a:lnTo>
                <a:lnTo>
                  <a:pt x="0" y="11057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6" id="36"/>
          <p:cNvSpPr txBox="true"/>
          <p:nvPr/>
        </p:nvSpPr>
        <p:spPr>
          <a:xfrm rot="0">
            <a:off x="2094089" y="928416"/>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sp>
        <p:nvSpPr>
          <p:cNvPr name="TextBox 37" id="37"/>
          <p:cNvSpPr txBox="true"/>
          <p:nvPr/>
        </p:nvSpPr>
        <p:spPr>
          <a:xfrm rot="0">
            <a:off x="142031" y="2060187"/>
            <a:ext cx="6448379" cy="933196"/>
          </a:xfrm>
          <a:prstGeom prst="rect">
            <a:avLst/>
          </a:prstGeom>
        </p:spPr>
        <p:txBody>
          <a:bodyPr anchor="t" rtlCol="false" tIns="0" lIns="0" bIns="0" rIns="0">
            <a:spAutoFit/>
          </a:bodyPr>
          <a:lstStyle/>
          <a:p>
            <a:pPr algn="l">
              <a:lnSpc>
                <a:spcPts val="7231"/>
              </a:lnSpc>
            </a:pPr>
            <a:r>
              <a:rPr lang="en-US" b="true" sz="6399" spc="-236">
                <a:solidFill>
                  <a:srgbClr val="00172C"/>
                </a:solidFill>
                <a:latin typeface="Open Sauce Bold"/>
                <a:ea typeface="Open Sauce Bold"/>
                <a:cs typeface="Open Sauce Bold"/>
                <a:sym typeface="Open Sauce Bold"/>
              </a:rPr>
              <a:t>METHODOLOGY</a:t>
            </a:r>
          </a:p>
        </p:txBody>
      </p:sp>
      <p:sp>
        <p:nvSpPr>
          <p:cNvPr name="TextBox 38" id="38"/>
          <p:cNvSpPr txBox="true"/>
          <p:nvPr/>
        </p:nvSpPr>
        <p:spPr>
          <a:xfrm rot="0">
            <a:off x="7393347" y="2488326"/>
            <a:ext cx="2564273"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DATA COLLECTION</a:t>
            </a:r>
          </a:p>
        </p:txBody>
      </p:sp>
      <p:sp>
        <p:nvSpPr>
          <p:cNvPr name="TextBox 39" id="39"/>
          <p:cNvSpPr txBox="true"/>
          <p:nvPr/>
        </p:nvSpPr>
        <p:spPr>
          <a:xfrm rot="0">
            <a:off x="7710654" y="4074045"/>
            <a:ext cx="3307975" cy="1313815"/>
          </a:xfrm>
          <a:prstGeom prst="rect">
            <a:avLst/>
          </a:prstGeom>
        </p:spPr>
        <p:txBody>
          <a:bodyPr anchor="t" rtlCol="false" tIns="0" lIns="0" bIns="0" rIns="0">
            <a:spAutoFit/>
          </a:bodyPr>
          <a:lstStyle/>
          <a:p>
            <a:pPr algn="l">
              <a:lnSpc>
                <a:spcPts val="2660"/>
              </a:lnSpc>
            </a:pPr>
            <a:r>
              <a:rPr lang="en-US" sz="1900" spc="30">
                <a:solidFill>
                  <a:srgbClr val="F8FCFF"/>
                </a:solidFill>
                <a:latin typeface="Open Sauce"/>
                <a:ea typeface="Open Sauce"/>
                <a:cs typeface="Open Sauce"/>
                <a:sym typeface="Open Sauce"/>
              </a:rPr>
              <a:t>IBM HR Dataset</a:t>
            </a:r>
          </a:p>
          <a:p>
            <a:pPr algn="l">
              <a:lnSpc>
                <a:spcPts val="2660"/>
              </a:lnSpc>
            </a:pPr>
            <a:r>
              <a:rPr lang="en-US" sz="1900" spc="30">
                <a:solidFill>
                  <a:srgbClr val="F8FCFF"/>
                </a:solidFill>
                <a:latin typeface="Open Sauce"/>
                <a:ea typeface="Open Sauce"/>
                <a:cs typeface="Open Sauce"/>
                <a:sym typeface="Open Sauce"/>
              </a:rPr>
              <a:t>1470 Employees</a:t>
            </a:r>
          </a:p>
          <a:p>
            <a:pPr algn="l">
              <a:lnSpc>
                <a:spcPts val="2660"/>
              </a:lnSpc>
            </a:pPr>
            <a:r>
              <a:rPr lang="en-US" sz="1900" spc="30">
                <a:solidFill>
                  <a:srgbClr val="F8FCFF"/>
                </a:solidFill>
                <a:latin typeface="Open Sauce"/>
                <a:ea typeface="Open Sauce"/>
                <a:cs typeface="Open Sauce"/>
                <a:sym typeface="Open Sauce"/>
              </a:rPr>
              <a:t>35 Features</a:t>
            </a:r>
          </a:p>
          <a:p>
            <a:pPr algn="l">
              <a:lnSpc>
                <a:spcPts val="2660"/>
              </a:lnSpc>
            </a:pPr>
          </a:p>
        </p:txBody>
      </p:sp>
      <p:sp>
        <p:nvSpPr>
          <p:cNvPr name="TextBox 40" id="40"/>
          <p:cNvSpPr txBox="true"/>
          <p:nvPr/>
        </p:nvSpPr>
        <p:spPr>
          <a:xfrm rot="0">
            <a:off x="12708398" y="2402474"/>
            <a:ext cx="2057019" cy="737235"/>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DATA PROCESSING</a:t>
            </a:r>
          </a:p>
        </p:txBody>
      </p:sp>
      <p:sp>
        <p:nvSpPr>
          <p:cNvPr name="TextBox 41" id="41"/>
          <p:cNvSpPr txBox="true"/>
          <p:nvPr/>
        </p:nvSpPr>
        <p:spPr>
          <a:xfrm rot="0">
            <a:off x="13111430" y="4052730"/>
            <a:ext cx="3307975" cy="1647190"/>
          </a:xfrm>
          <a:prstGeom prst="rect">
            <a:avLst/>
          </a:prstGeom>
        </p:spPr>
        <p:txBody>
          <a:bodyPr anchor="t" rtlCol="false" tIns="0" lIns="0" bIns="0" rIns="0">
            <a:spAutoFit/>
          </a:bodyPr>
          <a:lstStyle/>
          <a:p>
            <a:pPr algn="l">
              <a:lnSpc>
                <a:spcPts val="2660"/>
              </a:lnSpc>
            </a:pPr>
            <a:r>
              <a:rPr lang="en-US" sz="1900" spc="30">
                <a:solidFill>
                  <a:srgbClr val="F8FCFF"/>
                </a:solidFill>
                <a:latin typeface="Open Sauce"/>
                <a:ea typeface="Open Sauce"/>
                <a:cs typeface="Open Sauce"/>
                <a:sym typeface="Open Sauce"/>
              </a:rPr>
              <a:t>Encoding</a:t>
            </a:r>
          </a:p>
          <a:p>
            <a:pPr algn="l">
              <a:lnSpc>
                <a:spcPts val="2660"/>
              </a:lnSpc>
            </a:pPr>
            <a:r>
              <a:rPr lang="en-US" sz="1900" spc="30">
                <a:solidFill>
                  <a:srgbClr val="F8FCFF"/>
                </a:solidFill>
                <a:latin typeface="Open Sauce"/>
                <a:ea typeface="Open Sauce"/>
                <a:cs typeface="Open Sauce"/>
                <a:sym typeface="Open Sauce"/>
              </a:rPr>
              <a:t>Scaling</a:t>
            </a:r>
          </a:p>
          <a:p>
            <a:pPr algn="l">
              <a:lnSpc>
                <a:spcPts val="2660"/>
              </a:lnSpc>
            </a:pPr>
            <a:r>
              <a:rPr lang="en-US" sz="1900" spc="30">
                <a:solidFill>
                  <a:srgbClr val="F8FCFF"/>
                </a:solidFill>
                <a:latin typeface="Open Sauce"/>
                <a:ea typeface="Open Sauce"/>
                <a:cs typeface="Open Sauce"/>
                <a:sym typeface="Open Sauce"/>
              </a:rPr>
              <a:t>Feature Engineering</a:t>
            </a:r>
          </a:p>
          <a:p>
            <a:pPr algn="l">
              <a:lnSpc>
                <a:spcPts val="2660"/>
              </a:lnSpc>
            </a:pPr>
            <a:r>
              <a:rPr lang="en-US" sz="1900" spc="30">
                <a:solidFill>
                  <a:srgbClr val="F8FCFF"/>
                </a:solidFill>
                <a:latin typeface="Open Sauce"/>
                <a:ea typeface="Open Sauce"/>
                <a:cs typeface="Open Sauce"/>
                <a:sym typeface="Open Sauce"/>
              </a:rPr>
              <a:t>Train/Test Split</a:t>
            </a:r>
          </a:p>
          <a:p>
            <a:pPr algn="l">
              <a:lnSpc>
                <a:spcPts val="2660"/>
              </a:lnSpc>
            </a:pPr>
          </a:p>
        </p:txBody>
      </p:sp>
      <p:sp>
        <p:nvSpPr>
          <p:cNvPr name="TextBox 42" id="42"/>
          <p:cNvSpPr txBox="true"/>
          <p:nvPr/>
        </p:nvSpPr>
        <p:spPr>
          <a:xfrm rot="0">
            <a:off x="7393347" y="6147747"/>
            <a:ext cx="2057019" cy="737235"/>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MODEL DEVELOPMENT</a:t>
            </a:r>
          </a:p>
        </p:txBody>
      </p:sp>
      <p:sp>
        <p:nvSpPr>
          <p:cNvPr name="TextBox 43" id="43"/>
          <p:cNvSpPr txBox="true"/>
          <p:nvPr/>
        </p:nvSpPr>
        <p:spPr>
          <a:xfrm rot="0">
            <a:off x="7751234" y="7720527"/>
            <a:ext cx="3307975" cy="1647190"/>
          </a:xfrm>
          <a:prstGeom prst="rect">
            <a:avLst/>
          </a:prstGeom>
        </p:spPr>
        <p:txBody>
          <a:bodyPr anchor="t" rtlCol="false" tIns="0" lIns="0" bIns="0" rIns="0">
            <a:spAutoFit/>
          </a:bodyPr>
          <a:lstStyle/>
          <a:p>
            <a:pPr algn="l">
              <a:lnSpc>
                <a:spcPts val="2660"/>
              </a:lnSpc>
            </a:pPr>
            <a:r>
              <a:rPr lang="en-US" sz="1900" spc="30">
                <a:solidFill>
                  <a:srgbClr val="F8FCFF"/>
                </a:solidFill>
                <a:latin typeface="Open Sauce"/>
                <a:ea typeface="Open Sauce"/>
                <a:cs typeface="Open Sauce"/>
                <a:sym typeface="Open Sauce"/>
              </a:rPr>
              <a:t>Logistic Regression</a:t>
            </a:r>
          </a:p>
          <a:p>
            <a:pPr algn="l">
              <a:lnSpc>
                <a:spcPts val="2660"/>
              </a:lnSpc>
            </a:pPr>
            <a:r>
              <a:rPr lang="en-US" sz="1900" spc="30">
                <a:solidFill>
                  <a:srgbClr val="F8FCFF"/>
                </a:solidFill>
                <a:latin typeface="Open Sauce"/>
                <a:ea typeface="Open Sauce"/>
                <a:cs typeface="Open Sauce"/>
                <a:sym typeface="Open Sauce"/>
              </a:rPr>
              <a:t>Decision Tree</a:t>
            </a:r>
          </a:p>
          <a:p>
            <a:pPr algn="l">
              <a:lnSpc>
                <a:spcPts val="2660"/>
              </a:lnSpc>
            </a:pPr>
            <a:r>
              <a:rPr lang="en-US" sz="1900" spc="30">
                <a:solidFill>
                  <a:srgbClr val="F8FCFF"/>
                </a:solidFill>
                <a:latin typeface="Open Sauce"/>
                <a:ea typeface="Open Sauce"/>
                <a:cs typeface="Open Sauce"/>
                <a:sym typeface="Open Sauce"/>
              </a:rPr>
              <a:t>Random Forest</a:t>
            </a:r>
          </a:p>
          <a:p>
            <a:pPr algn="l">
              <a:lnSpc>
                <a:spcPts val="2660"/>
              </a:lnSpc>
            </a:pPr>
            <a:r>
              <a:rPr lang="en-US" sz="1900" spc="30">
                <a:solidFill>
                  <a:srgbClr val="F8FCFF"/>
                </a:solidFill>
                <a:latin typeface="Open Sauce"/>
                <a:ea typeface="Open Sauce"/>
                <a:cs typeface="Open Sauce"/>
                <a:sym typeface="Open Sauce"/>
              </a:rPr>
              <a:t>XGBoost</a:t>
            </a:r>
          </a:p>
          <a:p>
            <a:pPr algn="l">
              <a:lnSpc>
                <a:spcPts val="2660"/>
              </a:lnSpc>
            </a:pPr>
          </a:p>
        </p:txBody>
      </p:sp>
      <p:sp>
        <p:nvSpPr>
          <p:cNvPr name="TextBox 44" id="44"/>
          <p:cNvSpPr txBox="true"/>
          <p:nvPr/>
        </p:nvSpPr>
        <p:spPr>
          <a:xfrm rot="0">
            <a:off x="12708398" y="6061895"/>
            <a:ext cx="2057019" cy="365760"/>
          </a:xfrm>
          <a:prstGeom prst="rect">
            <a:avLst/>
          </a:prstGeom>
        </p:spPr>
        <p:txBody>
          <a:bodyPr anchor="t" rtlCol="false" tIns="0" lIns="0" bIns="0" rIns="0">
            <a:spAutoFit/>
          </a:bodyPr>
          <a:lstStyle/>
          <a:p>
            <a:pPr algn="l">
              <a:lnSpc>
                <a:spcPts val="2940"/>
              </a:lnSpc>
            </a:pPr>
            <a:r>
              <a:rPr lang="en-US" sz="2100" b="true">
                <a:solidFill>
                  <a:srgbClr val="00172C"/>
                </a:solidFill>
                <a:latin typeface="Open Sauce Bold"/>
                <a:ea typeface="Open Sauce Bold"/>
                <a:cs typeface="Open Sauce Bold"/>
                <a:sym typeface="Open Sauce Bold"/>
              </a:rPr>
              <a:t>DEPLOYMENT</a:t>
            </a:r>
          </a:p>
        </p:txBody>
      </p:sp>
      <p:sp>
        <p:nvSpPr>
          <p:cNvPr name="TextBox 45" id="45"/>
          <p:cNvSpPr txBox="true"/>
          <p:nvPr/>
        </p:nvSpPr>
        <p:spPr>
          <a:xfrm rot="0">
            <a:off x="13111430" y="7781925"/>
            <a:ext cx="3307975" cy="1313815"/>
          </a:xfrm>
          <a:prstGeom prst="rect">
            <a:avLst/>
          </a:prstGeom>
        </p:spPr>
        <p:txBody>
          <a:bodyPr anchor="t" rtlCol="false" tIns="0" lIns="0" bIns="0" rIns="0">
            <a:spAutoFit/>
          </a:bodyPr>
          <a:lstStyle/>
          <a:p>
            <a:pPr algn="l">
              <a:lnSpc>
                <a:spcPts val="2660"/>
              </a:lnSpc>
            </a:pPr>
            <a:r>
              <a:rPr lang="en-US" sz="1900" spc="30">
                <a:solidFill>
                  <a:srgbClr val="F8FCFF"/>
                </a:solidFill>
                <a:latin typeface="Open Sauce"/>
                <a:ea typeface="Open Sauce"/>
                <a:cs typeface="Open Sauce"/>
                <a:sym typeface="Open Sauce"/>
              </a:rPr>
              <a:t>Streamlit</a:t>
            </a:r>
          </a:p>
          <a:p>
            <a:pPr algn="l">
              <a:lnSpc>
                <a:spcPts val="2660"/>
              </a:lnSpc>
            </a:pPr>
            <a:r>
              <a:rPr lang="en-US" sz="1900" spc="30">
                <a:solidFill>
                  <a:srgbClr val="F8FCFF"/>
                </a:solidFill>
                <a:latin typeface="Open Sauce"/>
                <a:ea typeface="Open Sauce"/>
                <a:cs typeface="Open Sauce"/>
                <a:sym typeface="Open Sauce"/>
              </a:rPr>
              <a:t>SHAP</a:t>
            </a:r>
          </a:p>
          <a:p>
            <a:pPr algn="l">
              <a:lnSpc>
                <a:spcPts val="2660"/>
              </a:lnSpc>
            </a:pPr>
            <a:r>
              <a:rPr lang="en-US" sz="1900" spc="30">
                <a:solidFill>
                  <a:srgbClr val="F8FCFF"/>
                </a:solidFill>
                <a:latin typeface="Open Sauce"/>
                <a:ea typeface="Open Sauce"/>
                <a:cs typeface="Open Sauce"/>
                <a:sym typeface="Open Sauce"/>
              </a:rPr>
              <a:t>Interactive Dashboard</a:t>
            </a:r>
          </a:p>
          <a:p>
            <a:pPr algn="l">
              <a:lnSpc>
                <a:spcPts val="266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28700" y="693183"/>
            <a:ext cx="3081706" cy="671033"/>
            <a:chOff x="0" y="0"/>
            <a:chExt cx="1160243" cy="252640"/>
          </a:xfrm>
        </p:grpSpPr>
        <p:sp>
          <p:nvSpPr>
            <p:cNvPr name="Freeform 3" id="3"/>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4" id="4"/>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24616" y="1614682"/>
            <a:ext cx="7470701" cy="1594793"/>
          </a:xfrm>
          <a:prstGeom prst="rect">
            <a:avLst/>
          </a:prstGeom>
        </p:spPr>
        <p:txBody>
          <a:bodyPr anchor="t" rtlCol="false" tIns="0" lIns="0" bIns="0" rIns="0">
            <a:spAutoFit/>
          </a:bodyPr>
          <a:lstStyle/>
          <a:p>
            <a:pPr algn="l">
              <a:lnSpc>
                <a:spcPts val="6262"/>
              </a:lnSpc>
            </a:pPr>
            <a:r>
              <a:rPr lang="en-US" b="true" sz="5541" spc="-205">
                <a:solidFill>
                  <a:srgbClr val="00172C"/>
                </a:solidFill>
                <a:latin typeface="Open Sauce Bold"/>
                <a:ea typeface="Open Sauce Bold"/>
                <a:cs typeface="Open Sauce Bold"/>
                <a:sym typeface="Open Sauce Bold"/>
              </a:rPr>
              <a:t>MACHINE LEARNING MODELS</a:t>
            </a:r>
          </a:p>
        </p:txBody>
      </p:sp>
      <p:sp>
        <p:nvSpPr>
          <p:cNvPr name="TextBox 7" id="7"/>
          <p:cNvSpPr txBox="true"/>
          <p:nvPr/>
        </p:nvSpPr>
        <p:spPr>
          <a:xfrm rot="0">
            <a:off x="1122714" y="3253438"/>
            <a:ext cx="5341820" cy="1480185"/>
          </a:xfrm>
          <a:prstGeom prst="rect">
            <a:avLst/>
          </a:prstGeom>
        </p:spPr>
        <p:txBody>
          <a:bodyPr anchor="t" rtlCol="false" tIns="0" lIns="0" bIns="0" rIns="0">
            <a:spAutoFit/>
          </a:bodyPr>
          <a:lstStyle/>
          <a:p>
            <a:pPr algn="l">
              <a:lnSpc>
                <a:spcPts val="2940"/>
              </a:lnSpc>
            </a:pPr>
            <a:r>
              <a:rPr lang="en-US" sz="2100" spc="33">
                <a:solidFill>
                  <a:srgbClr val="00172C"/>
                </a:solidFill>
                <a:latin typeface="Open Sauce"/>
                <a:ea typeface="Open Sauce"/>
                <a:cs typeface="Open Sauce"/>
                <a:sym typeface="Open Sauce"/>
              </a:rPr>
              <a:t>Four supervised machine learning algorithms were trained and evaluated to identify the most effective approach for predicting employee attrition.</a:t>
            </a:r>
          </a:p>
        </p:txBody>
      </p:sp>
      <p:sp>
        <p:nvSpPr>
          <p:cNvPr name="TextBox 8" id="8"/>
          <p:cNvSpPr txBox="true"/>
          <p:nvPr/>
        </p:nvSpPr>
        <p:spPr>
          <a:xfrm rot="0">
            <a:off x="2094089" y="928416"/>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grpSp>
        <p:nvGrpSpPr>
          <p:cNvPr name="Group 9" id="9"/>
          <p:cNvGrpSpPr/>
          <p:nvPr/>
        </p:nvGrpSpPr>
        <p:grpSpPr>
          <a:xfrm rot="0">
            <a:off x="12108626" y="1082573"/>
            <a:ext cx="5150674" cy="8175727"/>
            <a:chOff x="0" y="0"/>
            <a:chExt cx="1356556" cy="2153278"/>
          </a:xfrm>
        </p:grpSpPr>
        <p:sp>
          <p:nvSpPr>
            <p:cNvPr name="Freeform 10" id="10"/>
            <p:cNvSpPr/>
            <p:nvPr/>
          </p:nvSpPr>
          <p:spPr>
            <a:xfrm flipH="false" flipV="false" rot="0">
              <a:off x="0" y="0"/>
              <a:ext cx="1356556" cy="2153278"/>
            </a:xfrm>
            <a:custGeom>
              <a:avLst/>
              <a:gdLst/>
              <a:ahLst/>
              <a:cxnLst/>
              <a:rect r="r" b="b" t="t" l="l"/>
              <a:pathLst>
                <a:path h="2153278" w="1356556">
                  <a:moveTo>
                    <a:pt x="54111" y="0"/>
                  </a:moveTo>
                  <a:lnTo>
                    <a:pt x="1302445" y="0"/>
                  </a:lnTo>
                  <a:cubicBezTo>
                    <a:pt x="1316796" y="0"/>
                    <a:pt x="1330560" y="5701"/>
                    <a:pt x="1340707" y="15849"/>
                  </a:cubicBezTo>
                  <a:cubicBezTo>
                    <a:pt x="1350855" y="25997"/>
                    <a:pt x="1356556" y="39760"/>
                    <a:pt x="1356556" y="54111"/>
                  </a:cubicBezTo>
                  <a:lnTo>
                    <a:pt x="1356556" y="2099167"/>
                  </a:lnTo>
                  <a:cubicBezTo>
                    <a:pt x="1356556" y="2113518"/>
                    <a:pt x="1350855" y="2127281"/>
                    <a:pt x="1340707" y="2137429"/>
                  </a:cubicBezTo>
                  <a:cubicBezTo>
                    <a:pt x="1330560" y="2147577"/>
                    <a:pt x="1316796" y="2153278"/>
                    <a:pt x="1302445" y="2153278"/>
                  </a:cubicBezTo>
                  <a:lnTo>
                    <a:pt x="54111" y="2153278"/>
                  </a:lnTo>
                  <a:cubicBezTo>
                    <a:pt x="39760" y="2153278"/>
                    <a:pt x="25997" y="2147577"/>
                    <a:pt x="15849" y="2137429"/>
                  </a:cubicBezTo>
                  <a:cubicBezTo>
                    <a:pt x="5701" y="2127281"/>
                    <a:pt x="0" y="2113518"/>
                    <a:pt x="0" y="2099167"/>
                  </a:cubicBezTo>
                  <a:lnTo>
                    <a:pt x="0" y="54111"/>
                  </a:lnTo>
                  <a:cubicBezTo>
                    <a:pt x="0" y="39760"/>
                    <a:pt x="5701" y="25997"/>
                    <a:pt x="15849" y="15849"/>
                  </a:cubicBezTo>
                  <a:cubicBezTo>
                    <a:pt x="25997" y="5701"/>
                    <a:pt x="39760" y="0"/>
                    <a:pt x="54111" y="0"/>
                  </a:cubicBezTo>
                  <a:close/>
                </a:path>
              </a:pathLst>
            </a:custGeom>
            <a:solidFill>
              <a:srgbClr val="0063C2"/>
            </a:solidFill>
          </p:spPr>
        </p:sp>
        <p:sp>
          <p:nvSpPr>
            <p:cNvPr name="TextBox 11" id="11"/>
            <p:cNvSpPr txBox="true"/>
            <p:nvPr/>
          </p:nvSpPr>
          <p:spPr>
            <a:xfrm>
              <a:off x="0" y="9525"/>
              <a:ext cx="1356556" cy="2143753"/>
            </a:xfrm>
            <a:prstGeom prst="rect">
              <a:avLst/>
            </a:prstGeom>
          </p:spPr>
          <p:txBody>
            <a:bodyPr anchor="ctr" rtlCol="false" tIns="50800" lIns="50800" bIns="50800" rIns="50800"/>
            <a:lstStyle/>
            <a:p>
              <a:pPr algn="ctr">
                <a:lnSpc>
                  <a:spcPts val="2372"/>
                </a:lnSpc>
              </a:pPr>
            </a:p>
          </p:txBody>
        </p:sp>
      </p:grpSp>
      <p:sp>
        <p:nvSpPr>
          <p:cNvPr name="TextBox 12" id="12"/>
          <p:cNvSpPr txBox="true"/>
          <p:nvPr/>
        </p:nvSpPr>
        <p:spPr>
          <a:xfrm rot="0">
            <a:off x="12685687" y="5417534"/>
            <a:ext cx="2420022"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XGBoost</a:t>
            </a:r>
          </a:p>
        </p:txBody>
      </p:sp>
      <p:sp>
        <p:nvSpPr>
          <p:cNvPr name="TextBox 13" id="13"/>
          <p:cNvSpPr txBox="true"/>
          <p:nvPr/>
        </p:nvSpPr>
        <p:spPr>
          <a:xfrm rot="0">
            <a:off x="12685687" y="6266085"/>
            <a:ext cx="4312239"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High predictive power</a:t>
            </a:r>
          </a:p>
          <a:p>
            <a:pPr algn="l">
              <a:lnSpc>
                <a:spcPts val="2940"/>
              </a:lnSpc>
            </a:pPr>
            <a:r>
              <a:rPr lang="en-US" sz="2100" spc="33">
                <a:solidFill>
                  <a:srgbClr val="F8FCFF"/>
                </a:solidFill>
                <a:latin typeface="Open Sauce"/>
                <a:ea typeface="Open Sauce"/>
                <a:cs typeface="Open Sauce"/>
                <a:sym typeface="Open Sauce"/>
              </a:rPr>
              <a:t>Gradient boosting</a:t>
            </a:r>
          </a:p>
          <a:p>
            <a:pPr algn="l">
              <a:lnSpc>
                <a:spcPts val="2940"/>
              </a:lnSpc>
            </a:pPr>
            <a:r>
              <a:rPr lang="en-US" sz="2100" spc="33">
                <a:solidFill>
                  <a:srgbClr val="F8FCFF"/>
                </a:solidFill>
                <a:latin typeface="Open Sauce"/>
                <a:ea typeface="Open Sauce"/>
                <a:cs typeface="Open Sauce"/>
                <a:sym typeface="Open Sauce"/>
              </a:rPr>
              <a:t>Excellent calibration</a:t>
            </a:r>
          </a:p>
          <a:p>
            <a:pPr algn="l">
              <a:lnSpc>
                <a:spcPts val="2940"/>
              </a:lnSpc>
            </a:pPr>
          </a:p>
        </p:txBody>
      </p:sp>
      <p:grpSp>
        <p:nvGrpSpPr>
          <p:cNvPr name="Group 14" id="14"/>
          <p:cNvGrpSpPr/>
          <p:nvPr/>
        </p:nvGrpSpPr>
        <p:grpSpPr>
          <a:xfrm rot="0">
            <a:off x="6664236" y="3831605"/>
            <a:ext cx="5150674" cy="5426695"/>
            <a:chOff x="0" y="0"/>
            <a:chExt cx="1356556" cy="1429253"/>
          </a:xfrm>
        </p:grpSpPr>
        <p:sp>
          <p:nvSpPr>
            <p:cNvPr name="Freeform 15" id="15"/>
            <p:cNvSpPr/>
            <p:nvPr/>
          </p:nvSpPr>
          <p:spPr>
            <a:xfrm flipH="false" flipV="false" rot="0">
              <a:off x="0" y="0"/>
              <a:ext cx="1356556" cy="1429253"/>
            </a:xfrm>
            <a:custGeom>
              <a:avLst/>
              <a:gdLst/>
              <a:ahLst/>
              <a:cxnLst/>
              <a:rect r="r" b="b" t="t" l="l"/>
              <a:pathLst>
                <a:path h="1429253" w="1356556">
                  <a:moveTo>
                    <a:pt x="54111" y="0"/>
                  </a:moveTo>
                  <a:lnTo>
                    <a:pt x="1302445" y="0"/>
                  </a:lnTo>
                  <a:cubicBezTo>
                    <a:pt x="1316796" y="0"/>
                    <a:pt x="1330560" y="5701"/>
                    <a:pt x="1340707" y="15849"/>
                  </a:cubicBezTo>
                  <a:cubicBezTo>
                    <a:pt x="1350855" y="25997"/>
                    <a:pt x="1356556" y="39760"/>
                    <a:pt x="1356556" y="54111"/>
                  </a:cubicBezTo>
                  <a:lnTo>
                    <a:pt x="1356556" y="1375142"/>
                  </a:lnTo>
                  <a:cubicBezTo>
                    <a:pt x="1356556" y="1389493"/>
                    <a:pt x="1350855" y="1403256"/>
                    <a:pt x="1340707" y="1413404"/>
                  </a:cubicBezTo>
                  <a:cubicBezTo>
                    <a:pt x="1330560" y="1423552"/>
                    <a:pt x="1316796" y="1429253"/>
                    <a:pt x="1302445" y="1429253"/>
                  </a:cubicBezTo>
                  <a:lnTo>
                    <a:pt x="54111" y="1429253"/>
                  </a:lnTo>
                  <a:cubicBezTo>
                    <a:pt x="39760" y="1429253"/>
                    <a:pt x="25997" y="1423552"/>
                    <a:pt x="15849" y="1413404"/>
                  </a:cubicBezTo>
                  <a:cubicBezTo>
                    <a:pt x="5701" y="1403256"/>
                    <a:pt x="0" y="1389493"/>
                    <a:pt x="0" y="1375142"/>
                  </a:cubicBezTo>
                  <a:lnTo>
                    <a:pt x="0" y="54111"/>
                  </a:lnTo>
                  <a:cubicBezTo>
                    <a:pt x="0" y="39760"/>
                    <a:pt x="5701" y="25997"/>
                    <a:pt x="15849" y="15849"/>
                  </a:cubicBezTo>
                  <a:cubicBezTo>
                    <a:pt x="25997" y="5701"/>
                    <a:pt x="39760" y="0"/>
                    <a:pt x="54111" y="0"/>
                  </a:cubicBezTo>
                  <a:close/>
                </a:path>
              </a:pathLst>
            </a:custGeom>
            <a:solidFill>
              <a:srgbClr val="00172C"/>
            </a:solidFill>
          </p:spPr>
        </p:sp>
        <p:sp>
          <p:nvSpPr>
            <p:cNvPr name="TextBox 16" id="16"/>
            <p:cNvSpPr txBox="true"/>
            <p:nvPr/>
          </p:nvSpPr>
          <p:spPr>
            <a:xfrm>
              <a:off x="0" y="9525"/>
              <a:ext cx="1356556" cy="1419728"/>
            </a:xfrm>
            <a:prstGeom prst="rect">
              <a:avLst/>
            </a:prstGeom>
          </p:spPr>
          <p:txBody>
            <a:bodyPr anchor="ctr" rtlCol="false" tIns="50800" lIns="50800" bIns="50800" rIns="50800"/>
            <a:lstStyle/>
            <a:p>
              <a:pPr algn="ctr">
                <a:lnSpc>
                  <a:spcPts val="2372"/>
                </a:lnSpc>
              </a:pPr>
            </a:p>
          </p:txBody>
        </p:sp>
      </p:grpSp>
      <p:grpSp>
        <p:nvGrpSpPr>
          <p:cNvPr name="Group 17" id="17"/>
          <p:cNvGrpSpPr/>
          <p:nvPr/>
        </p:nvGrpSpPr>
        <p:grpSpPr>
          <a:xfrm rot="0">
            <a:off x="1122714" y="5060293"/>
            <a:ext cx="5150674" cy="4095570"/>
            <a:chOff x="0" y="0"/>
            <a:chExt cx="1356556" cy="1078669"/>
          </a:xfrm>
        </p:grpSpPr>
        <p:sp>
          <p:nvSpPr>
            <p:cNvPr name="Freeform 18" id="18"/>
            <p:cNvSpPr/>
            <p:nvPr/>
          </p:nvSpPr>
          <p:spPr>
            <a:xfrm flipH="false" flipV="false" rot="0">
              <a:off x="0" y="0"/>
              <a:ext cx="1356556" cy="1078669"/>
            </a:xfrm>
            <a:custGeom>
              <a:avLst/>
              <a:gdLst/>
              <a:ahLst/>
              <a:cxnLst/>
              <a:rect r="r" b="b" t="t" l="l"/>
              <a:pathLst>
                <a:path h="1078669" w="1356556">
                  <a:moveTo>
                    <a:pt x="54111" y="0"/>
                  </a:moveTo>
                  <a:lnTo>
                    <a:pt x="1302445" y="0"/>
                  </a:lnTo>
                  <a:cubicBezTo>
                    <a:pt x="1316796" y="0"/>
                    <a:pt x="1330560" y="5701"/>
                    <a:pt x="1340707" y="15849"/>
                  </a:cubicBezTo>
                  <a:cubicBezTo>
                    <a:pt x="1350855" y="25997"/>
                    <a:pt x="1356556" y="39760"/>
                    <a:pt x="1356556" y="54111"/>
                  </a:cubicBezTo>
                  <a:lnTo>
                    <a:pt x="1356556" y="1024557"/>
                  </a:lnTo>
                  <a:cubicBezTo>
                    <a:pt x="1356556" y="1038909"/>
                    <a:pt x="1350855" y="1052672"/>
                    <a:pt x="1340707" y="1062820"/>
                  </a:cubicBezTo>
                  <a:cubicBezTo>
                    <a:pt x="1330560" y="1072968"/>
                    <a:pt x="1316796" y="1078669"/>
                    <a:pt x="1302445" y="1078669"/>
                  </a:cubicBezTo>
                  <a:lnTo>
                    <a:pt x="54111" y="1078669"/>
                  </a:lnTo>
                  <a:cubicBezTo>
                    <a:pt x="39760" y="1078669"/>
                    <a:pt x="25997" y="1072968"/>
                    <a:pt x="15849" y="1062820"/>
                  </a:cubicBezTo>
                  <a:cubicBezTo>
                    <a:pt x="5701" y="1052672"/>
                    <a:pt x="0" y="1038909"/>
                    <a:pt x="0" y="1024557"/>
                  </a:cubicBezTo>
                  <a:lnTo>
                    <a:pt x="0" y="54111"/>
                  </a:lnTo>
                  <a:cubicBezTo>
                    <a:pt x="0" y="39760"/>
                    <a:pt x="5701" y="25997"/>
                    <a:pt x="15849" y="15849"/>
                  </a:cubicBezTo>
                  <a:cubicBezTo>
                    <a:pt x="25997" y="5701"/>
                    <a:pt x="39760" y="0"/>
                    <a:pt x="54111" y="0"/>
                  </a:cubicBezTo>
                  <a:close/>
                </a:path>
              </a:pathLst>
            </a:custGeom>
            <a:solidFill>
              <a:srgbClr val="0063C2"/>
            </a:solidFill>
          </p:spPr>
        </p:sp>
        <p:sp>
          <p:nvSpPr>
            <p:cNvPr name="TextBox 19" id="19"/>
            <p:cNvSpPr txBox="true"/>
            <p:nvPr/>
          </p:nvSpPr>
          <p:spPr>
            <a:xfrm>
              <a:off x="0" y="9525"/>
              <a:ext cx="1356556" cy="1069144"/>
            </a:xfrm>
            <a:prstGeom prst="rect">
              <a:avLst/>
            </a:prstGeom>
          </p:spPr>
          <p:txBody>
            <a:bodyPr anchor="ctr" rtlCol="false" tIns="50800" lIns="50800" bIns="50800" rIns="50800"/>
            <a:lstStyle/>
            <a:p>
              <a:pPr algn="ctr">
                <a:lnSpc>
                  <a:spcPts val="2372"/>
                </a:lnSpc>
              </a:pPr>
            </a:p>
          </p:txBody>
        </p:sp>
      </p:grpSp>
      <p:sp>
        <p:nvSpPr>
          <p:cNvPr name="TextBox 20" id="20"/>
          <p:cNvSpPr txBox="true"/>
          <p:nvPr/>
        </p:nvSpPr>
        <p:spPr>
          <a:xfrm rot="0">
            <a:off x="1804866" y="5627893"/>
            <a:ext cx="2927275"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Logistic Regression</a:t>
            </a:r>
          </a:p>
        </p:txBody>
      </p:sp>
      <p:sp>
        <p:nvSpPr>
          <p:cNvPr name="TextBox 21" id="21"/>
          <p:cNvSpPr txBox="true"/>
          <p:nvPr/>
        </p:nvSpPr>
        <p:spPr>
          <a:xfrm rot="0">
            <a:off x="1804866" y="6791242"/>
            <a:ext cx="4213587"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AUC</a:t>
            </a:r>
          </a:p>
          <a:p>
            <a:pPr algn="l">
              <a:lnSpc>
                <a:spcPts val="2940"/>
              </a:lnSpc>
            </a:pPr>
            <a:r>
              <a:rPr lang="en-US" sz="2100" spc="33">
                <a:solidFill>
                  <a:srgbClr val="F8FCFF"/>
                </a:solidFill>
                <a:latin typeface="Open Sauce"/>
                <a:ea typeface="Open Sauce"/>
                <a:cs typeface="Open Sauce"/>
                <a:sym typeface="Open Sauce"/>
              </a:rPr>
              <a:t>0.816</a:t>
            </a:r>
          </a:p>
          <a:p>
            <a:pPr algn="l">
              <a:lnSpc>
                <a:spcPts val="2940"/>
              </a:lnSpc>
            </a:pPr>
            <a:r>
              <a:rPr lang="en-US" sz="2100" spc="33">
                <a:solidFill>
                  <a:srgbClr val="F8FCFF"/>
                </a:solidFill>
                <a:latin typeface="Open Sauce"/>
                <a:ea typeface="Open Sauce"/>
                <a:cs typeface="Open Sauce"/>
                <a:sym typeface="Open Sauce"/>
              </a:rPr>
              <a:t>Int</a:t>
            </a:r>
            <a:r>
              <a:rPr lang="en-US" sz="2100" spc="33">
                <a:solidFill>
                  <a:srgbClr val="F8FCFF"/>
                </a:solidFill>
                <a:latin typeface="Open Sauce"/>
                <a:ea typeface="Open Sauce"/>
                <a:cs typeface="Open Sauce"/>
                <a:sym typeface="Open Sauce"/>
              </a:rPr>
              <a:t>erpretable baseline</a:t>
            </a:r>
          </a:p>
          <a:p>
            <a:pPr algn="l">
              <a:lnSpc>
                <a:spcPts val="2940"/>
              </a:lnSpc>
            </a:pPr>
          </a:p>
        </p:txBody>
      </p:sp>
      <p:sp>
        <p:nvSpPr>
          <p:cNvPr name="TextBox 22" id="22"/>
          <p:cNvSpPr txBox="true"/>
          <p:nvPr/>
        </p:nvSpPr>
        <p:spPr>
          <a:xfrm rot="0">
            <a:off x="7430238" y="4938410"/>
            <a:ext cx="2420022"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Random Forest</a:t>
            </a:r>
          </a:p>
        </p:txBody>
      </p:sp>
      <p:sp>
        <p:nvSpPr>
          <p:cNvPr name="TextBox 23" id="23"/>
          <p:cNvSpPr txBox="true"/>
          <p:nvPr/>
        </p:nvSpPr>
        <p:spPr>
          <a:xfrm rot="0">
            <a:off x="7430238" y="5786961"/>
            <a:ext cx="4090520"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Good robustness</a:t>
            </a:r>
          </a:p>
          <a:p>
            <a:pPr algn="l">
              <a:lnSpc>
                <a:spcPts val="2940"/>
              </a:lnSpc>
            </a:pPr>
            <a:r>
              <a:rPr lang="en-US" sz="2100" spc="33">
                <a:solidFill>
                  <a:srgbClr val="F8FCFF"/>
                </a:solidFill>
                <a:latin typeface="Open Sauce"/>
                <a:ea typeface="Open Sauce"/>
                <a:cs typeface="Open Sauce"/>
                <a:sym typeface="Open Sauce"/>
              </a:rPr>
              <a:t>Feature importance</a:t>
            </a:r>
          </a:p>
          <a:p>
            <a:pPr algn="l">
              <a:lnSpc>
                <a:spcPts val="2940"/>
              </a:lnSpc>
            </a:pPr>
            <a:r>
              <a:rPr lang="en-US" sz="2100" spc="33">
                <a:solidFill>
                  <a:srgbClr val="F8FCFF"/>
                </a:solidFill>
                <a:latin typeface="Open Sauce"/>
                <a:ea typeface="Open Sauce"/>
                <a:cs typeface="Open Sauce"/>
                <a:sym typeface="Open Sauce"/>
              </a:rPr>
              <a:t>Handles nonlinearities</a:t>
            </a:r>
          </a:p>
          <a:p>
            <a:pPr algn="l">
              <a:lnSpc>
                <a:spcPts val="2940"/>
              </a:lnSpc>
            </a:pPr>
          </a:p>
        </p:txBody>
      </p:sp>
      <p:sp>
        <p:nvSpPr>
          <p:cNvPr name="Freeform 24" id="24"/>
          <p:cNvSpPr/>
          <p:nvPr/>
        </p:nvSpPr>
        <p:spPr>
          <a:xfrm flipH="false" flipV="false" rot="0">
            <a:off x="14645863" y="1858960"/>
            <a:ext cx="1972645" cy="1972645"/>
          </a:xfrm>
          <a:custGeom>
            <a:avLst/>
            <a:gdLst/>
            <a:ahLst/>
            <a:cxnLst/>
            <a:rect r="r" b="b" t="t" l="l"/>
            <a:pathLst>
              <a:path h="1972645" w="1972645">
                <a:moveTo>
                  <a:pt x="0" y="0"/>
                </a:moveTo>
                <a:lnTo>
                  <a:pt x="1972645" y="0"/>
                </a:lnTo>
                <a:lnTo>
                  <a:pt x="1972645" y="1972645"/>
                </a:lnTo>
                <a:lnTo>
                  <a:pt x="0" y="19726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28700" y="693183"/>
            <a:ext cx="3081706" cy="671033"/>
            <a:chOff x="0" y="0"/>
            <a:chExt cx="1160243" cy="252640"/>
          </a:xfrm>
        </p:grpSpPr>
        <p:sp>
          <p:nvSpPr>
            <p:cNvPr name="Freeform 3" id="3"/>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4" id="4"/>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325719" y="-1274458"/>
            <a:ext cx="12835916" cy="1283591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172C">
                    <a:alpha val="100000"/>
                  </a:srgbClr>
                </a:gs>
                <a:gs pos="100000">
                  <a:srgbClr val="2961BC">
                    <a:alpha val="100000"/>
                  </a:srgbClr>
                </a:gs>
              </a:gsLst>
              <a:lin ang="0"/>
            </a:gradFill>
          </p:spPr>
        </p:sp>
        <p:sp>
          <p:nvSpPr>
            <p:cNvPr name="TextBox 8" id="8"/>
            <p:cNvSpPr txBox="true"/>
            <p:nvPr/>
          </p:nvSpPr>
          <p:spPr>
            <a:xfrm>
              <a:off x="76200" y="85725"/>
              <a:ext cx="660400" cy="650875"/>
            </a:xfrm>
            <a:prstGeom prst="rect">
              <a:avLst/>
            </a:prstGeom>
          </p:spPr>
          <p:txBody>
            <a:bodyPr anchor="ctr" rtlCol="false" tIns="50800" lIns="50800" bIns="50800" rIns="50800"/>
            <a:lstStyle/>
            <a:p>
              <a:pPr algn="ctr">
                <a:lnSpc>
                  <a:spcPts val="2372"/>
                </a:lnSpc>
              </a:pPr>
            </a:p>
          </p:txBody>
        </p:sp>
      </p:grpSp>
      <p:sp>
        <p:nvSpPr>
          <p:cNvPr name="Freeform 9" id="9"/>
          <p:cNvSpPr/>
          <p:nvPr/>
        </p:nvSpPr>
        <p:spPr>
          <a:xfrm flipH="false" flipV="false" rot="10329335">
            <a:off x="10356037" y="3481067"/>
            <a:ext cx="10819474" cy="5812027"/>
          </a:xfrm>
          <a:custGeom>
            <a:avLst/>
            <a:gdLst/>
            <a:ahLst/>
            <a:cxnLst/>
            <a:rect r="r" b="b" t="t" l="l"/>
            <a:pathLst>
              <a:path h="5812027" w="10819474">
                <a:moveTo>
                  <a:pt x="0" y="0"/>
                </a:moveTo>
                <a:lnTo>
                  <a:pt x="10819474" y="0"/>
                </a:lnTo>
                <a:lnTo>
                  <a:pt x="10819474" y="5812026"/>
                </a:lnTo>
                <a:lnTo>
                  <a:pt x="0" y="58120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89570" y="1746220"/>
            <a:ext cx="6218753" cy="1551273"/>
          </a:xfrm>
          <a:prstGeom prst="rect">
            <a:avLst/>
          </a:prstGeom>
        </p:spPr>
        <p:txBody>
          <a:bodyPr anchor="t" rtlCol="false" tIns="0" lIns="0" bIns="0" rIns="0">
            <a:spAutoFit/>
          </a:bodyPr>
          <a:lstStyle/>
          <a:p>
            <a:pPr algn="l">
              <a:lnSpc>
                <a:spcPts val="6095"/>
              </a:lnSpc>
            </a:pPr>
            <a:r>
              <a:rPr lang="en-US" b="true" sz="5394" spc="-199">
                <a:solidFill>
                  <a:srgbClr val="00172C"/>
                </a:solidFill>
                <a:latin typeface="Open Sauce Bold"/>
                <a:ea typeface="Open Sauce Bold"/>
                <a:cs typeface="Open Sauce Bold"/>
                <a:sym typeface="Open Sauce Bold"/>
              </a:rPr>
              <a:t>RESULTS &amp; MODEL PERFORMANCE</a:t>
            </a:r>
          </a:p>
        </p:txBody>
      </p:sp>
      <p:grpSp>
        <p:nvGrpSpPr>
          <p:cNvPr name="Group 11" id="11"/>
          <p:cNvGrpSpPr/>
          <p:nvPr/>
        </p:nvGrpSpPr>
        <p:grpSpPr>
          <a:xfrm rot="0">
            <a:off x="3840490" y="5669488"/>
            <a:ext cx="4562314" cy="2526357"/>
            <a:chOff x="0" y="0"/>
            <a:chExt cx="1201597" cy="665378"/>
          </a:xfrm>
        </p:grpSpPr>
        <p:sp>
          <p:nvSpPr>
            <p:cNvPr name="Freeform 12" id="12"/>
            <p:cNvSpPr/>
            <p:nvPr/>
          </p:nvSpPr>
          <p:spPr>
            <a:xfrm flipH="false" flipV="false" rot="0">
              <a:off x="0" y="0"/>
              <a:ext cx="1201597" cy="665378"/>
            </a:xfrm>
            <a:custGeom>
              <a:avLst/>
              <a:gdLst/>
              <a:ahLst/>
              <a:cxnLst/>
              <a:rect r="r" b="b" t="t" l="l"/>
              <a:pathLst>
                <a:path h="665378" w="1201597">
                  <a:moveTo>
                    <a:pt x="61089" y="0"/>
                  </a:moveTo>
                  <a:lnTo>
                    <a:pt x="1140508" y="0"/>
                  </a:lnTo>
                  <a:cubicBezTo>
                    <a:pt x="1156710" y="0"/>
                    <a:pt x="1172248" y="6436"/>
                    <a:pt x="1183704" y="17893"/>
                  </a:cubicBezTo>
                  <a:cubicBezTo>
                    <a:pt x="1195161" y="29349"/>
                    <a:pt x="1201597" y="44888"/>
                    <a:pt x="1201597" y="61089"/>
                  </a:cubicBezTo>
                  <a:lnTo>
                    <a:pt x="1201597" y="604289"/>
                  </a:lnTo>
                  <a:cubicBezTo>
                    <a:pt x="1201597" y="638027"/>
                    <a:pt x="1174246" y="665378"/>
                    <a:pt x="1140508" y="665378"/>
                  </a:cubicBezTo>
                  <a:lnTo>
                    <a:pt x="61089" y="665378"/>
                  </a:lnTo>
                  <a:cubicBezTo>
                    <a:pt x="44888" y="665378"/>
                    <a:pt x="29349" y="658942"/>
                    <a:pt x="17893" y="647485"/>
                  </a:cubicBezTo>
                  <a:cubicBezTo>
                    <a:pt x="6436" y="636029"/>
                    <a:pt x="0" y="620491"/>
                    <a:pt x="0" y="604289"/>
                  </a:cubicBezTo>
                  <a:lnTo>
                    <a:pt x="0" y="61089"/>
                  </a:lnTo>
                  <a:cubicBezTo>
                    <a:pt x="0" y="27351"/>
                    <a:pt x="27351" y="0"/>
                    <a:pt x="61089" y="0"/>
                  </a:cubicBezTo>
                  <a:close/>
                </a:path>
              </a:pathLst>
            </a:custGeom>
            <a:solidFill>
              <a:srgbClr val="0063C2">
                <a:alpha val="80000"/>
              </a:srgbClr>
            </a:solidFill>
            <a:ln w="47625" cap="rnd">
              <a:solidFill>
                <a:srgbClr val="00172C">
                  <a:alpha val="80000"/>
                </a:srgbClr>
              </a:solidFill>
              <a:prstDash val="solid"/>
              <a:round/>
            </a:ln>
          </p:spPr>
        </p:sp>
        <p:sp>
          <p:nvSpPr>
            <p:cNvPr name="TextBox 13" id="13"/>
            <p:cNvSpPr txBox="true"/>
            <p:nvPr/>
          </p:nvSpPr>
          <p:spPr>
            <a:xfrm>
              <a:off x="0" y="9525"/>
              <a:ext cx="1201597" cy="655853"/>
            </a:xfrm>
            <a:prstGeom prst="rect">
              <a:avLst/>
            </a:prstGeom>
          </p:spPr>
          <p:txBody>
            <a:bodyPr anchor="ctr" rtlCol="false" tIns="50800" lIns="50800" bIns="50800" rIns="50800"/>
            <a:lstStyle/>
            <a:p>
              <a:pPr algn="ctr">
                <a:lnSpc>
                  <a:spcPts val="2372"/>
                </a:lnSpc>
              </a:pPr>
            </a:p>
          </p:txBody>
        </p:sp>
      </p:grpSp>
      <p:sp>
        <p:nvSpPr>
          <p:cNvPr name="TextBox 14" id="14"/>
          <p:cNvSpPr txBox="true"/>
          <p:nvPr/>
        </p:nvSpPr>
        <p:spPr>
          <a:xfrm rot="0">
            <a:off x="4789572" y="6028195"/>
            <a:ext cx="2397011" cy="651096"/>
          </a:xfrm>
          <a:prstGeom prst="rect">
            <a:avLst/>
          </a:prstGeom>
        </p:spPr>
        <p:txBody>
          <a:bodyPr anchor="t" rtlCol="false" tIns="0" lIns="0" bIns="0" rIns="0">
            <a:spAutoFit/>
          </a:bodyPr>
          <a:lstStyle/>
          <a:p>
            <a:pPr algn="just">
              <a:lnSpc>
                <a:spcPts val="5391"/>
              </a:lnSpc>
            </a:pPr>
            <a:r>
              <a:rPr lang="en-US" sz="3850">
                <a:solidFill>
                  <a:srgbClr val="F8FCFF"/>
                </a:solidFill>
                <a:latin typeface="Open Sauce"/>
                <a:ea typeface="Open Sauce"/>
                <a:cs typeface="Open Sauce"/>
                <a:sym typeface="Open Sauce"/>
              </a:rPr>
              <a:t>ROC-AUC</a:t>
            </a:r>
          </a:p>
        </p:txBody>
      </p:sp>
      <p:sp>
        <p:nvSpPr>
          <p:cNvPr name="TextBox 15" id="15"/>
          <p:cNvSpPr txBox="true"/>
          <p:nvPr/>
        </p:nvSpPr>
        <p:spPr>
          <a:xfrm rot="0">
            <a:off x="4911312" y="7054416"/>
            <a:ext cx="3919124" cy="1108710"/>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0.816</a:t>
            </a:r>
          </a:p>
          <a:p>
            <a:pPr algn="l">
              <a:lnSpc>
                <a:spcPts val="2940"/>
              </a:lnSpc>
            </a:pPr>
            <a:r>
              <a:rPr lang="en-US" sz="2100" spc="33">
                <a:solidFill>
                  <a:srgbClr val="F8FCFF"/>
                </a:solidFill>
                <a:latin typeface="Open Sauce"/>
                <a:ea typeface="Open Sauce"/>
                <a:cs typeface="Open Sauce"/>
                <a:sym typeface="Open Sauce"/>
              </a:rPr>
              <a:t>B</a:t>
            </a:r>
            <a:r>
              <a:rPr lang="en-US" sz="2100" spc="33">
                <a:solidFill>
                  <a:srgbClr val="F8FCFF"/>
                </a:solidFill>
                <a:latin typeface="Open Sauce"/>
                <a:ea typeface="Open Sauce"/>
                <a:cs typeface="Open Sauce"/>
                <a:sym typeface="Open Sauce"/>
              </a:rPr>
              <a:t>est Performing Model</a:t>
            </a:r>
          </a:p>
          <a:p>
            <a:pPr algn="l">
              <a:lnSpc>
                <a:spcPts val="2940"/>
              </a:lnSpc>
            </a:pPr>
          </a:p>
        </p:txBody>
      </p:sp>
      <p:sp>
        <p:nvSpPr>
          <p:cNvPr name="TextBox 16" id="16"/>
          <p:cNvSpPr txBox="true"/>
          <p:nvPr/>
        </p:nvSpPr>
        <p:spPr>
          <a:xfrm rot="0">
            <a:off x="1069280" y="3474928"/>
            <a:ext cx="6770988" cy="1851660"/>
          </a:xfrm>
          <a:prstGeom prst="rect">
            <a:avLst/>
          </a:prstGeom>
        </p:spPr>
        <p:txBody>
          <a:bodyPr anchor="t" rtlCol="false" tIns="0" lIns="0" bIns="0" rIns="0">
            <a:spAutoFit/>
          </a:bodyPr>
          <a:lstStyle/>
          <a:p>
            <a:pPr algn="l">
              <a:lnSpc>
                <a:spcPts val="2940"/>
              </a:lnSpc>
            </a:pPr>
            <a:r>
              <a:rPr lang="en-US" sz="2100" spc="33">
                <a:solidFill>
                  <a:srgbClr val="00172C"/>
                </a:solidFill>
                <a:latin typeface="Open Sauce"/>
                <a:ea typeface="Open Sauce"/>
                <a:cs typeface="Open Sauce"/>
                <a:sym typeface="Open Sauce"/>
              </a:rPr>
              <a:t>Multiple evaluation metrics were used to compare the predictive performance of all trained models. Logistic Regression achieved the highest ROC-AUC, while XGBoost demonstrated excellent calibration performance.</a:t>
            </a:r>
          </a:p>
        </p:txBody>
      </p:sp>
      <p:sp>
        <p:nvSpPr>
          <p:cNvPr name="Freeform 17" id="17"/>
          <p:cNvSpPr/>
          <p:nvPr/>
        </p:nvSpPr>
        <p:spPr>
          <a:xfrm flipH="false" flipV="false" rot="10329335">
            <a:off x="-6254162" y="6648361"/>
            <a:ext cx="10819474" cy="5812027"/>
          </a:xfrm>
          <a:custGeom>
            <a:avLst/>
            <a:gdLst/>
            <a:ahLst/>
            <a:cxnLst/>
            <a:rect r="r" b="b" t="t" l="l"/>
            <a:pathLst>
              <a:path h="5812027" w="10819474">
                <a:moveTo>
                  <a:pt x="0" y="0"/>
                </a:moveTo>
                <a:lnTo>
                  <a:pt x="10819474" y="0"/>
                </a:lnTo>
                <a:lnTo>
                  <a:pt x="10819474" y="5812027"/>
                </a:lnTo>
                <a:lnTo>
                  <a:pt x="0" y="58120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1671528" y="1364217"/>
            <a:ext cx="5008697" cy="2206383"/>
            <a:chOff x="0" y="0"/>
            <a:chExt cx="1319163" cy="581105"/>
          </a:xfrm>
        </p:grpSpPr>
        <p:sp>
          <p:nvSpPr>
            <p:cNvPr name="Freeform 19" id="19"/>
            <p:cNvSpPr/>
            <p:nvPr/>
          </p:nvSpPr>
          <p:spPr>
            <a:xfrm flipH="false" flipV="false" rot="0">
              <a:off x="0" y="0"/>
              <a:ext cx="1319163" cy="581105"/>
            </a:xfrm>
            <a:custGeom>
              <a:avLst/>
              <a:gdLst/>
              <a:ahLst/>
              <a:cxnLst/>
              <a:rect r="r" b="b" t="t" l="l"/>
              <a:pathLst>
                <a:path h="581105" w="1319163">
                  <a:moveTo>
                    <a:pt x="55645" y="0"/>
                  </a:moveTo>
                  <a:lnTo>
                    <a:pt x="1263518" y="0"/>
                  </a:lnTo>
                  <a:cubicBezTo>
                    <a:pt x="1278276" y="0"/>
                    <a:pt x="1292429" y="5863"/>
                    <a:pt x="1302865" y="16298"/>
                  </a:cubicBezTo>
                  <a:cubicBezTo>
                    <a:pt x="1313300" y="26734"/>
                    <a:pt x="1319163" y="40887"/>
                    <a:pt x="1319163" y="55645"/>
                  </a:cubicBezTo>
                  <a:lnTo>
                    <a:pt x="1319163" y="525460"/>
                  </a:lnTo>
                  <a:cubicBezTo>
                    <a:pt x="1319163" y="556192"/>
                    <a:pt x="1294250" y="581105"/>
                    <a:pt x="1263518" y="581105"/>
                  </a:cubicBezTo>
                  <a:lnTo>
                    <a:pt x="55645" y="581105"/>
                  </a:lnTo>
                  <a:cubicBezTo>
                    <a:pt x="40887" y="581105"/>
                    <a:pt x="26734" y="575243"/>
                    <a:pt x="16298" y="564807"/>
                  </a:cubicBezTo>
                  <a:cubicBezTo>
                    <a:pt x="5863" y="554372"/>
                    <a:pt x="0" y="540218"/>
                    <a:pt x="0" y="525460"/>
                  </a:cubicBezTo>
                  <a:lnTo>
                    <a:pt x="0" y="55645"/>
                  </a:lnTo>
                  <a:cubicBezTo>
                    <a:pt x="0" y="40887"/>
                    <a:pt x="5863" y="26734"/>
                    <a:pt x="16298" y="16298"/>
                  </a:cubicBezTo>
                  <a:cubicBezTo>
                    <a:pt x="26734" y="5863"/>
                    <a:pt x="40887" y="0"/>
                    <a:pt x="55645" y="0"/>
                  </a:cubicBezTo>
                  <a:close/>
                </a:path>
              </a:pathLst>
            </a:custGeom>
            <a:solidFill>
              <a:srgbClr val="0063C2">
                <a:alpha val="54902"/>
              </a:srgbClr>
            </a:solidFill>
            <a:ln w="47625" cap="rnd">
              <a:solidFill>
                <a:srgbClr val="00172C">
                  <a:alpha val="54902"/>
                </a:srgbClr>
              </a:solidFill>
              <a:prstDash val="solid"/>
              <a:round/>
            </a:ln>
          </p:spPr>
        </p:sp>
        <p:sp>
          <p:nvSpPr>
            <p:cNvPr name="TextBox 20" id="20"/>
            <p:cNvSpPr txBox="true"/>
            <p:nvPr/>
          </p:nvSpPr>
          <p:spPr>
            <a:xfrm>
              <a:off x="0" y="9525"/>
              <a:ext cx="1319163" cy="571580"/>
            </a:xfrm>
            <a:prstGeom prst="rect">
              <a:avLst/>
            </a:prstGeom>
          </p:spPr>
          <p:txBody>
            <a:bodyPr anchor="ctr" rtlCol="false" tIns="50800" lIns="50800" bIns="50800" rIns="50800"/>
            <a:lstStyle/>
            <a:p>
              <a:pPr algn="ctr">
                <a:lnSpc>
                  <a:spcPts val="2372"/>
                </a:lnSpc>
              </a:pPr>
            </a:p>
          </p:txBody>
        </p:sp>
      </p:grpSp>
      <p:sp>
        <p:nvSpPr>
          <p:cNvPr name="TextBox 21" id="21"/>
          <p:cNvSpPr txBox="true"/>
          <p:nvPr/>
        </p:nvSpPr>
        <p:spPr>
          <a:xfrm rot="0">
            <a:off x="12133978" y="1669129"/>
            <a:ext cx="1680201" cy="460111"/>
          </a:xfrm>
          <a:prstGeom prst="rect">
            <a:avLst/>
          </a:prstGeom>
        </p:spPr>
        <p:txBody>
          <a:bodyPr anchor="t" rtlCol="false" tIns="0" lIns="0" bIns="0" rIns="0">
            <a:spAutoFit/>
          </a:bodyPr>
          <a:lstStyle/>
          <a:p>
            <a:pPr algn="just">
              <a:lnSpc>
                <a:spcPts val="3805"/>
              </a:lnSpc>
            </a:pPr>
            <a:r>
              <a:rPr lang="en-US" sz="2718">
                <a:solidFill>
                  <a:srgbClr val="F8FCFF"/>
                </a:solidFill>
                <a:latin typeface="Open Sauce"/>
                <a:ea typeface="Open Sauce"/>
                <a:cs typeface="Open Sauce"/>
                <a:sym typeface="Open Sauce"/>
              </a:rPr>
              <a:t>Accuracy</a:t>
            </a:r>
          </a:p>
        </p:txBody>
      </p:sp>
      <p:sp>
        <p:nvSpPr>
          <p:cNvPr name="TextBox 22" id="22"/>
          <p:cNvSpPr txBox="true"/>
          <p:nvPr/>
        </p:nvSpPr>
        <p:spPr>
          <a:xfrm rot="0">
            <a:off x="13495735" y="2213773"/>
            <a:ext cx="2495884" cy="1083720"/>
          </a:xfrm>
          <a:prstGeom prst="rect">
            <a:avLst/>
          </a:prstGeom>
        </p:spPr>
        <p:txBody>
          <a:bodyPr anchor="t" rtlCol="false" tIns="0" lIns="0" bIns="0" rIns="0">
            <a:spAutoFit/>
          </a:bodyPr>
          <a:lstStyle/>
          <a:p>
            <a:pPr algn="l">
              <a:lnSpc>
                <a:spcPts val="2165"/>
              </a:lnSpc>
            </a:pPr>
            <a:r>
              <a:rPr lang="en-US" sz="1546" spc="24">
                <a:solidFill>
                  <a:srgbClr val="F8FCFF"/>
                </a:solidFill>
                <a:latin typeface="Open Sauce"/>
                <a:ea typeface="Open Sauce"/>
                <a:cs typeface="Open Sauce"/>
                <a:sym typeface="Open Sauce"/>
              </a:rPr>
              <a:t>84%</a:t>
            </a:r>
          </a:p>
          <a:p>
            <a:pPr algn="l">
              <a:lnSpc>
                <a:spcPts val="2165"/>
              </a:lnSpc>
            </a:pPr>
            <a:r>
              <a:rPr lang="en-US" sz="1546" spc="24">
                <a:solidFill>
                  <a:srgbClr val="F8FCFF"/>
                </a:solidFill>
                <a:latin typeface="Open Sauce"/>
                <a:ea typeface="Open Sauce"/>
                <a:cs typeface="Open Sauce"/>
                <a:sym typeface="Open Sauce"/>
              </a:rPr>
              <a:t>H</a:t>
            </a:r>
            <a:r>
              <a:rPr lang="en-US" sz="1546" spc="24">
                <a:solidFill>
                  <a:srgbClr val="F8FCFF"/>
                </a:solidFill>
                <a:latin typeface="Open Sauce"/>
                <a:ea typeface="Open Sauce"/>
                <a:cs typeface="Open Sauce"/>
                <a:sym typeface="Open Sauce"/>
              </a:rPr>
              <a:t>ighest Overall Accuracy</a:t>
            </a:r>
          </a:p>
          <a:p>
            <a:pPr algn="l">
              <a:lnSpc>
                <a:spcPts val="2165"/>
              </a:lnSpc>
            </a:pPr>
            <a:r>
              <a:rPr lang="en-US" sz="1546" spc="24">
                <a:solidFill>
                  <a:srgbClr val="F8FCFF"/>
                </a:solidFill>
                <a:latin typeface="Open Sauce"/>
                <a:ea typeface="Open Sauce"/>
                <a:cs typeface="Open Sauce"/>
                <a:sym typeface="Open Sauce"/>
              </a:rPr>
              <a:t>(or your actual value)</a:t>
            </a:r>
          </a:p>
          <a:p>
            <a:pPr algn="l">
              <a:lnSpc>
                <a:spcPts val="2165"/>
              </a:lnSpc>
            </a:pPr>
          </a:p>
        </p:txBody>
      </p:sp>
      <p:sp>
        <p:nvSpPr>
          <p:cNvPr name="TextBox 23" id="23"/>
          <p:cNvSpPr txBox="true"/>
          <p:nvPr/>
        </p:nvSpPr>
        <p:spPr>
          <a:xfrm rot="0">
            <a:off x="2084609" y="902836"/>
            <a:ext cx="1755880" cy="304419"/>
          </a:xfrm>
          <a:prstGeom prst="rect">
            <a:avLst/>
          </a:prstGeom>
        </p:spPr>
        <p:txBody>
          <a:bodyPr anchor="t" rtlCol="false" tIns="0" lIns="0" bIns="0" rIns="0">
            <a:spAutoFit/>
          </a:bodyPr>
          <a:lstStyle/>
          <a:p>
            <a:pPr algn="ctr">
              <a:lnSpc>
                <a:spcPts val="2372"/>
              </a:lnSpc>
              <a:spcBef>
                <a:spcPct val="0"/>
              </a:spcBef>
            </a:pPr>
            <a:r>
              <a:rPr lang="en-US" sz="2100" spc="33">
                <a:solidFill>
                  <a:srgbClr val="FFFFFF"/>
                </a:solidFill>
                <a:latin typeface="Open Sauce"/>
                <a:ea typeface="Open Sauce"/>
                <a:cs typeface="Open Sauce"/>
                <a:sym typeface="Open Sauce"/>
              </a:rPr>
              <a:t>ATTRISENSE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1028700" y="693183"/>
            <a:ext cx="3081706" cy="671033"/>
            <a:chOff x="0" y="0"/>
            <a:chExt cx="1160243" cy="252640"/>
          </a:xfrm>
        </p:grpSpPr>
        <p:sp>
          <p:nvSpPr>
            <p:cNvPr name="Freeform 3" id="3"/>
            <p:cNvSpPr/>
            <p:nvPr/>
          </p:nvSpPr>
          <p:spPr>
            <a:xfrm flipH="false" flipV="false" rot="0">
              <a:off x="0" y="0"/>
              <a:ext cx="1160243" cy="252640"/>
            </a:xfrm>
            <a:custGeom>
              <a:avLst/>
              <a:gdLst/>
              <a:ahLst/>
              <a:cxnLst/>
              <a:rect r="r" b="b" t="t" l="l"/>
              <a:pathLst>
                <a:path h="252640" w="1160243">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name="TextBox 4" id="4"/>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44888" y="850145"/>
            <a:ext cx="357111" cy="357111"/>
          </a:xfrm>
          <a:custGeom>
            <a:avLst/>
            <a:gdLst/>
            <a:ahLst/>
            <a:cxnLst/>
            <a:rect r="r" b="b" t="t" l="l"/>
            <a:pathLst>
              <a:path h="357111" w="357111">
                <a:moveTo>
                  <a:pt x="0" y="0"/>
                </a:moveTo>
                <a:lnTo>
                  <a:pt x="357110" y="0"/>
                </a:lnTo>
                <a:lnTo>
                  <a:pt x="357110" y="357110"/>
                </a:lnTo>
                <a:lnTo>
                  <a:pt x="0" y="357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5899531"/>
            <a:ext cx="3873097" cy="3358769"/>
            <a:chOff x="0" y="0"/>
            <a:chExt cx="1020075" cy="884614"/>
          </a:xfrm>
        </p:grpSpPr>
        <p:sp>
          <p:nvSpPr>
            <p:cNvPr name="Freeform 7" id="7"/>
            <p:cNvSpPr/>
            <p:nvPr/>
          </p:nvSpPr>
          <p:spPr>
            <a:xfrm flipH="false" flipV="false" rot="0">
              <a:off x="0" y="0"/>
              <a:ext cx="1020075" cy="884614"/>
            </a:xfrm>
            <a:custGeom>
              <a:avLst/>
              <a:gdLst/>
              <a:ahLst/>
              <a:cxnLst/>
              <a:rect r="r" b="b" t="t" l="l"/>
              <a:pathLst>
                <a:path h="884614" w="1020075">
                  <a:moveTo>
                    <a:pt x="71960" y="0"/>
                  </a:moveTo>
                  <a:lnTo>
                    <a:pt x="948115" y="0"/>
                  </a:lnTo>
                  <a:cubicBezTo>
                    <a:pt x="967200" y="0"/>
                    <a:pt x="985503" y="7582"/>
                    <a:pt x="998998" y="21077"/>
                  </a:cubicBezTo>
                  <a:cubicBezTo>
                    <a:pt x="1012493" y="34572"/>
                    <a:pt x="1020075" y="52875"/>
                    <a:pt x="1020075" y="71960"/>
                  </a:cubicBezTo>
                  <a:lnTo>
                    <a:pt x="1020075" y="812654"/>
                  </a:lnTo>
                  <a:cubicBezTo>
                    <a:pt x="1020075" y="831739"/>
                    <a:pt x="1012493" y="850042"/>
                    <a:pt x="998998" y="863537"/>
                  </a:cubicBezTo>
                  <a:cubicBezTo>
                    <a:pt x="985503" y="877033"/>
                    <a:pt x="967200" y="884614"/>
                    <a:pt x="948115" y="884614"/>
                  </a:cubicBezTo>
                  <a:lnTo>
                    <a:pt x="71960" y="884614"/>
                  </a:lnTo>
                  <a:cubicBezTo>
                    <a:pt x="32218" y="884614"/>
                    <a:pt x="0" y="852396"/>
                    <a:pt x="0" y="812654"/>
                  </a:cubicBezTo>
                  <a:lnTo>
                    <a:pt x="0" y="71960"/>
                  </a:lnTo>
                  <a:cubicBezTo>
                    <a:pt x="0" y="52875"/>
                    <a:pt x="7582" y="34572"/>
                    <a:pt x="21077" y="21077"/>
                  </a:cubicBezTo>
                  <a:cubicBezTo>
                    <a:pt x="34572" y="7582"/>
                    <a:pt x="52875" y="0"/>
                    <a:pt x="71960" y="0"/>
                  </a:cubicBezTo>
                  <a:close/>
                </a:path>
              </a:pathLst>
            </a:custGeom>
            <a:solidFill>
              <a:srgbClr val="00172C"/>
            </a:solidFill>
          </p:spPr>
        </p:sp>
        <p:sp>
          <p:nvSpPr>
            <p:cNvPr name="TextBox 8" id="8"/>
            <p:cNvSpPr txBox="true"/>
            <p:nvPr/>
          </p:nvSpPr>
          <p:spPr>
            <a:xfrm>
              <a:off x="0" y="9525"/>
              <a:ext cx="1020075" cy="875089"/>
            </a:xfrm>
            <a:prstGeom prst="rect">
              <a:avLst/>
            </a:prstGeom>
          </p:spPr>
          <p:txBody>
            <a:bodyPr anchor="ctr" rtlCol="false" tIns="50800" lIns="50800" bIns="50800" rIns="50800"/>
            <a:lstStyle/>
            <a:p>
              <a:pPr algn="ctr">
                <a:lnSpc>
                  <a:spcPts val="2372"/>
                </a:lnSpc>
              </a:pPr>
            </a:p>
          </p:txBody>
        </p:sp>
      </p:grpSp>
      <p:grpSp>
        <p:nvGrpSpPr>
          <p:cNvPr name="Group 9" id="9"/>
          <p:cNvGrpSpPr/>
          <p:nvPr/>
        </p:nvGrpSpPr>
        <p:grpSpPr>
          <a:xfrm rot="0">
            <a:off x="929880" y="2817887"/>
            <a:ext cx="7939097" cy="2912357"/>
            <a:chOff x="0" y="0"/>
            <a:chExt cx="2016998" cy="739910"/>
          </a:xfrm>
        </p:grpSpPr>
        <p:sp>
          <p:nvSpPr>
            <p:cNvPr name="Freeform 10" id="10"/>
            <p:cNvSpPr/>
            <p:nvPr/>
          </p:nvSpPr>
          <p:spPr>
            <a:xfrm flipH="false" flipV="false" rot="0">
              <a:off x="0" y="0"/>
              <a:ext cx="2016998" cy="739910"/>
            </a:xfrm>
            <a:custGeom>
              <a:avLst/>
              <a:gdLst/>
              <a:ahLst/>
              <a:cxnLst/>
              <a:rect r="r" b="b" t="t" l="l"/>
              <a:pathLst>
                <a:path h="739910" w="2016998">
                  <a:moveTo>
                    <a:pt x="37056" y="0"/>
                  </a:moveTo>
                  <a:lnTo>
                    <a:pt x="1979942" y="0"/>
                  </a:lnTo>
                  <a:cubicBezTo>
                    <a:pt x="1989769" y="0"/>
                    <a:pt x="1999195" y="3904"/>
                    <a:pt x="2006144" y="10854"/>
                  </a:cubicBezTo>
                  <a:cubicBezTo>
                    <a:pt x="2013094" y="17803"/>
                    <a:pt x="2016998" y="27228"/>
                    <a:pt x="2016998" y="37056"/>
                  </a:cubicBezTo>
                  <a:lnTo>
                    <a:pt x="2016998" y="702854"/>
                  </a:lnTo>
                  <a:cubicBezTo>
                    <a:pt x="2016998" y="712682"/>
                    <a:pt x="2013094" y="722107"/>
                    <a:pt x="2006144" y="729056"/>
                  </a:cubicBezTo>
                  <a:cubicBezTo>
                    <a:pt x="1999195" y="736006"/>
                    <a:pt x="1989769" y="739910"/>
                    <a:pt x="1979942" y="739910"/>
                  </a:cubicBezTo>
                  <a:lnTo>
                    <a:pt x="37056" y="739910"/>
                  </a:lnTo>
                  <a:cubicBezTo>
                    <a:pt x="27228" y="739910"/>
                    <a:pt x="17803" y="736006"/>
                    <a:pt x="10854" y="729056"/>
                  </a:cubicBezTo>
                  <a:cubicBezTo>
                    <a:pt x="3904" y="722107"/>
                    <a:pt x="0" y="712682"/>
                    <a:pt x="0" y="702854"/>
                  </a:cubicBezTo>
                  <a:lnTo>
                    <a:pt x="0" y="37056"/>
                  </a:lnTo>
                  <a:cubicBezTo>
                    <a:pt x="0" y="27228"/>
                    <a:pt x="3904" y="17803"/>
                    <a:pt x="10854" y="10854"/>
                  </a:cubicBezTo>
                  <a:cubicBezTo>
                    <a:pt x="17803" y="3904"/>
                    <a:pt x="27228" y="0"/>
                    <a:pt x="37056" y="0"/>
                  </a:cubicBezTo>
                  <a:close/>
                </a:path>
              </a:pathLst>
            </a:custGeom>
            <a:blipFill>
              <a:blip r:embed="rId4"/>
              <a:stretch>
                <a:fillRect l="0" t="-21867" r="0" b="-21867"/>
              </a:stretch>
            </a:blipFill>
          </p:spPr>
        </p:sp>
      </p:grpSp>
      <p:sp>
        <p:nvSpPr>
          <p:cNvPr name="TextBox 11" id="11"/>
          <p:cNvSpPr txBox="true"/>
          <p:nvPr/>
        </p:nvSpPr>
        <p:spPr>
          <a:xfrm rot="0">
            <a:off x="1573049" y="6406722"/>
            <a:ext cx="2276920"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Overtime</a:t>
            </a:r>
          </a:p>
        </p:txBody>
      </p:sp>
      <p:grpSp>
        <p:nvGrpSpPr>
          <p:cNvPr name="Group 12" id="12"/>
          <p:cNvGrpSpPr/>
          <p:nvPr/>
        </p:nvGrpSpPr>
        <p:grpSpPr>
          <a:xfrm rot="0">
            <a:off x="5080403" y="5899531"/>
            <a:ext cx="3873097" cy="3358769"/>
            <a:chOff x="0" y="0"/>
            <a:chExt cx="1020075" cy="884614"/>
          </a:xfrm>
        </p:grpSpPr>
        <p:sp>
          <p:nvSpPr>
            <p:cNvPr name="Freeform 13" id="13"/>
            <p:cNvSpPr/>
            <p:nvPr/>
          </p:nvSpPr>
          <p:spPr>
            <a:xfrm flipH="false" flipV="false" rot="0">
              <a:off x="0" y="0"/>
              <a:ext cx="1020075" cy="884614"/>
            </a:xfrm>
            <a:custGeom>
              <a:avLst/>
              <a:gdLst/>
              <a:ahLst/>
              <a:cxnLst/>
              <a:rect r="r" b="b" t="t" l="l"/>
              <a:pathLst>
                <a:path h="884614" w="1020075">
                  <a:moveTo>
                    <a:pt x="71960" y="0"/>
                  </a:moveTo>
                  <a:lnTo>
                    <a:pt x="948115" y="0"/>
                  </a:lnTo>
                  <a:cubicBezTo>
                    <a:pt x="967200" y="0"/>
                    <a:pt x="985503" y="7582"/>
                    <a:pt x="998998" y="21077"/>
                  </a:cubicBezTo>
                  <a:cubicBezTo>
                    <a:pt x="1012493" y="34572"/>
                    <a:pt x="1020075" y="52875"/>
                    <a:pt x="1020075" y="71960"/>
                  </a:cubicBezTo>
                  <a:lnTo>
                    <a:pt x="1020075" y="812654"/>
                  </a:lnTo>
                  <a:cubicBezTo>
                    <a:pt x="1020075" y="831739"/>
                    <a:pt x="1012493" y="850042"/>
                    <a:pt x="998998" y="863537"/>
                  </a:cubicBezTo>
                  <a:cubicBezTo>
                    <a:pt x="985503" y="877033"/>
                    <a:pt x="967200" y="884614"/>
                    <a:pt x="948115" y="884614"/>
                  </a:cubicBezTo>
                  <a:lnTo>
                    <a:pt x="71960" y="884614"/>
                  </a:lnTo>
                  <a:cubicBezTo>
                    <a:pt x="32218" y="884614"/>
                    <a:pt x="0" y="852396"/>
                    <a:pt x="0" y="812654"/>
                  </a:cubicBezTo>
                  <a:lnTo>
                    <a:pt x="0" y="71960"/>
                  </a:lnTo>
                  <a:cubicBezTo>
                    <a:pt x="0" y="52875"/>
                    <a:pt x="7582" y="34572"/>
                    <a:pt x="21077" y="21077"/>
                  </a:cubicBezTo>
                  <a:cubicBezTo>
                    <a:pt x="34572" y="7582"/>
                    <a:pt x="52875" y="0"/>
                    <a:pt x="71960" y="0"/>
                  </a:cubicBezTo>
                  <a:close/>
                </a:path>
              </a:pathLst>
            </a:custGeom>
            <a:solidFill>
              <a:srgbClr val="0063C2"/>
            </a:solidFill>
          </p:spPr>
        </p:sp>
        <p:sp>
          <p:nvSpPr>
            <p:cNvPr name="TextBox 14" id="14"/>
            <p:cNvSpPr txBox="true"/>
            <p:nvPr/>
          </p:nvSpPr>
          <p:spPr>
            <a:xfrm>
              <a:off x="0" y="9525"/>
              <a:ext cx="1020075" cy="875089"/>
            </a:xfrm>
            <a:prstGeom prst="rect">
              <a:avLst/>
            </a:prstGeom>
          </p:spPr>
          <p:txBody>
            <a:bodyPr anchor="ctr" rtlCol="false" tIns="50800" lIns="50800" bIns="50800" rIns="50800"/>
            <a:lstStyle/>
            <a:p>
              <a:pPr algn="ctr">
                <a:lnSpc>
                  <a:spcPts val="2372"/>
                </a:lnSpc>
              </a:pPr>
            </a:p>
          </p:txBody>
        </p:sp>
      </p:grpSp>
      <p:grpSp>
        <p:nvGrpSpPr>
          <p:cNvPr name="Group 15" id="15"/>
          <p:cNvGrpSpPr/>
          <p:nvPr/>
        </p:nvGrpSpPr>
        <p:grpSpPr>
          <a:xfrm rot="0">
            <a:off x="9134475" y="5899531"/>
            <a:ext cx="3873097" cy="3358769"/>
            <a:chOff x="0" y="0"/>
            <a:chExt cx="1020075" cy="884614"/>
          </a:xfrm>
        </p:grpSpPr>
        <p:sp>
          <p:nvSpPr>
            <p:cNvPr name="Freeform 16" id="16"/>
            <p:cNvSpPr/>
            <p:nvPr/>
          </p:nvSpPr>
          <p:spPr>
            <a:xfrm flipH="false" flipV="false" rot="0">
              <a:off x="0" y="0"/>
              <a:ext cx="1020075" cy="884614"/>
            </a:xfrm>
            <a:custGeom>
              <a:avLst/>
              <a:gdLst/>
              <a:ahLst/>
              <a:cxnLst/>
              <a:rect r="r" b="b" t="t" l="l"/>
              <a:pathLst>
                <a:path h="884614" w="1020075">
                  <a:moveTo>
                    <a:pt x="71960" y="0"/>
                  </a:moveTo>
                  <a:lnTo>
                    <a:pt x="948115" y="0"/>
                  </a:lnTo>
                  <a:cubicBezTo>
                    <a:pt x="967200" y="0"/>
                    <a:pt x="985503" y="7582"/>
                    <a:pt x="998998" y="21077"/>
                  </a:cubicBezTo>
                  <a:cubicBezTo>
                    <a:pt x="1012493" y="34572"/>
                    <a:pt x="1020075" y="52875"/>
                    <a:pt x="1020075" y="71960"/>
                  </a:cubicBezTo>
                  <a:lnTo>
                    <a:pt x="1020075" y="812654"/>
                  </a:lnTo>
                  <a:cubicBezTo>
                    <a:pt x="1020075" y="831739"/>
                    <a:pt x="1012493" y="850042"/>
                    <a:pt x="998998" y="863537"/>
                  </a:cubicBezTo>
                  <a:cubicBezTo>
                    <a:pt x="985503" y="877033"/>
                    <a:pt x="967200" y="884614"/>
                    <a:pt x="948115" y="884614"/>
                  </a:cubicBezTo>
                  <a:lnTo>
                    <a:pt x="71960" y="884614"/>
                  </a:lnTo>
                  <a:cubicBezTo>
                    <a:pt x="32218" y="884614"/>
                    <a:pt x="0" y="852396"/>
                    <a:pt x="0" y="812654"/>
                  </a:cubicBezTo>
                  <a:lnTo>
                    <a:pt x="0" y="71960"/>
                  </a:lnTo>
                  <a:cubicBezTo>
                    <a:pt x="0" y="52875"/>
                    <a:pt x="7582" y="34572"/>
                    <a:pt x="21077" y="21077"/>
                  </a:cubicBezTo>
                  <a:cubicBezTo>
                    <a:pt x="34572" y="7582"/>
                    <a:pt x="52875" y="0"/>
                    <a:pt x="71960" y="0"/>
                  </a:cubicBezTo>
                  <a:close/>
                </a:path>
              </a:pathLst>
            </a:custGeom>
            <a:solidFill>
              <a:srgbClr val="00172C"/>
            </a:solidFill>
          </p:spPr>
        </p:sp>
        <p:sp>
          <p:nvSpPr>
            <p:cNvPr name="TextBox 17" id="17"/>
            <p:cNvSpPr txBox="true"/>
            <p:nvPr/>
          </p:nvSpPr>
          <p:spPr>
            <a:xfrm>
              <a:off x="0" y="9525"/>
              <a:ext cx="1020075" cy="875089"/>
            </a:xfrm>
            <a:prstGeom prst="rect">
              <a:avLst/>
            </a:prstGeom>
          </p:spPr>
          <p:txBody>
            <a:bodyPr anchor="ctr" rtlCol="false" tIns="50800" lIns="50800" bIns="50800" rIns="50800"/>
            <a:lstStyle/>
            <a:p>
              <a:pPr algn="ctr">
                <a:lnSpc>
                  <a:spcPts val="2372"/>
                </a:lnSpc>
              </a:pPr>
            </a:p>
          </p:txBody>
        </p:sp>
      </p:grpSp>
      <p:grpSp>
        <p:nvGrpSpPr>
          <p:cNvPr name="Group 18" id="18"/>
          <p:cNvGrpSpPr/>
          <p:nvPr/>
        </p:nvGrpSpPr>
        <p:grpSpPr>
          <a:xfrm rot="0">
            <a:off x="13186178" y="5899531"/>
            <a:ext cx="3873097" cy="3358769"/>
            <a:chOff x="0" y="0"/>
            <a:chExt cx="1020075" cy="884614"/>
          </a:xfrm>
        </p:grpSpPr>
        <p:sp>
          <p:nvSpPr>
            <p:cNvPr name="Freeform 19" id="19"/>
            <p:cNvSpPr/>
            <p:nvPr/>
          </p:nvSpPr>
          <p:spPr>
            <a:xfrm flipH="false" flipV="false" rot="0">
              <a:off x="0" y="0"/>
              <a:ext cx="1020075" cy="884614"/>
            </a:xfrm>
            <a:custGeom>
              <a:avLst/>
              <a:gdLst/>
              <a:ahLst/>
              <a:cxnLst/>
              <a:rect r="r" b="b" t="t" l="l"/>
              <a:pathLst>
                <a:path h="884614" w="1020075">
                  <a:moveTo>
                    <a:pt x="71960" y="0"/>
                  </a:moveTo>
                  <a:lnTo>
                    <a:pt x="948115" y="0"/>
                  </a:lnTo>
                  <a:cubicBezTo>
                    <a:pt x="967200" y="0"/>
                    <a:pt x="985503" y="7582"/>
                    <a:pt x="998998" y="21077"/>
                  </a:cubicBezTo>
                  <a:cubicBezTo>
                    <a:pt x="1012493" y="34572"/>
                    <a:pt x="1020075" y="52875"/>
                    <a:pt x="1020075" y="71960"/>
                  </a:cubicBezTo>
                  <a:lnTo>
                    <a:pt x="1020075" y="812654"/>
                  </a:lnTo>
                  <a:cubicBezTo>
                    <a:pt x="1020075" y="831739"/>
                    <a:pt x="1012493" y="850042"/>
                    <a:pt x="998998" y="863537"/>
                  </a:cubicBezTo>
                  <a:cubicBezTo>
                    <a:pt x="985503" y="877033"/>
                    <a:pt x="967200" y="884614"/>
                    <a:pt x="948115" y="884614"/>
                  </a:cubicBezTo>
                  <a:lnTo>
                    <a:pt x="71960" y="884614"/>
                  </a:lnTo>
                  <a:cubicBezTo>
                    <a:pt x="32218" y="884614"/>
                    <a:pt x="0" y="852396"/>
                    <a:pt x="0" y="812654"/>
                  </a:cubicBezTo>
                  <a:lnTo>
                    <a:pt x="0" y="71960"/>
                  </a:lnTo>
                  <a:cubicBezTo>
                    <a:pt x="0" y="52875"/>
                    <a:pt x="7582" y="34572"/>
                    <a:pt x="21077" y="21077"/>
                  </a:cubicBezTo>
                  <a:cubicBezTo>
                    <a:pt x="34572" y="7582"/>
                    <a:pt x="52875" y="0"/>
                    <a:pt x="71960" y="0"/>
                  </a:cubicBezTo>
                  <a:close/>
                </a:path>
              </a:pathLst>
            </a:custGeom>
            <a:solidFill>
              <a:srgbClr val="0063C2"/>
            </a:solidFill>
          </p:spPr>
        </p:sp>
        <p:sp>
          <p:nvSpPr>
            <p:cNvPr name="TextBox 20" id="20"/>
            <p:cNvSpPr txBox="true"/>
            <p:nvPr/>
          </p:nvSpPr>
          <p:spPr>
            <a:xfrm>
              <a:off x="0" y="9525"/>
              <a:ext cx="1020075" cy="875089"/>
            </a:xfrm>
            <a:prstGeom prst="rect">
              <a:avLst/>
            </a:prstGeom>
          </p:spPr>
          <p:txBody>
            <a:bodyPr anchor="ctr" rtlCol="false" tIns="50800" lIns="50800" bIns="50800" rIns="50800"/>
            <a:lstStyle/>
            <a:p>
              <a:pPr algn="ctr">
                <a:lnSpc>
                  <a:spcPts val="2372"/>
                </a:lnSpc>
              </a:pPr>
            </a:p>
          </p:txBody>
        </p:sp>
      </p:grpSp>
      <p:grpSp>
        <p:nvGrpSpPr>
          <p:cNvPr name="Group 21" id="21"/>
          <p:cNvGrpSpPr/>
          <p:nvPr/>
        </p:nvGrpSpPr>
        <p:grpSpPr>
          <a:xfrm rot="0">
            <a:off x="9320203" y="2817887"/>
            <a:ext cx="7939097" cy="2912357"/>
            <a:chOff x="0" y="0"/>
            <a:chExt cx="2016998" cy="739910"/>
          </a:xfrm>
        </p:grpSpPr>
        <p:sp>
          <p:nvSpPr>
            <p:cNvPr name="Freeform 22" id="22"/>
            <p:cNvSpPr/>
            <p:nvPr/>
          </p:nvSpPr>
          <p:spPr>
            <a:xfrm flipH="false" flipV="false" rot="0">
              <a:off x="0" y="0"/>
              <a:ext cx="2016998" cy="739910"/>
            </a:xfrm>
            <a:custGeom>
              <a:avLst/>
              <a:gdLst/>
              <a:ahLst/>
              <a:cxnLst/>
              <a:rect r="r" b="b" t="t" l="l"/>
              <a:pathLst>
                <a:path h="739910" w="2016998">
                  <a:moveTo>
                    <a:pt x="37056" y="0"/>
                  </a:moveTo>
                  <a:lnTo>
                    <a:pt x="1979942" y="0"/>
                  </a:lnTo>
                  <a:cubicBezTo>
                    <a:pt x="1989769" y="0"/>
                    <a:pt x="1999195" y="3904"/>
                    <a:pt x="2006144" y="10854"/>
                  </a:cubicBezTo>
                  <a:cubicBezTo>
                    <a:pt x="2013094" y="17803"/>
                    <a:pt x="2016998" y="27228"/>
                    <a:pt x="2016998" y="37056"/>
                  </a:cubicBezTo>
                  <a:lnTo>
                    <a:pt x="2016998" y="702854"/>
                  </a:lnTo>
                  <a:cubicBezTo>
                    <a:pt x="2016998" y="712682"/>
                    <a:pt x="2013094" y="722107"/>
                    <a:pt x="2006144" y="729056"/>
                  </a:cubicBezTo>
                  <a:cubicBezTo>
                    <a:pt x="1999195" y="736006"/>
                    <a:pt x="1989769" y="739910"/>
                    <a:pt x="1979942" y="739910"/>
                  </a:cubicBezTo>
                  <a:lnTo>
                    <a:pt x="37056" y="739910"/>
                  </a:lnTo>
                  <a:cubicBezTo>
                    <a:pt x="27228" y="739910"/>
                    <a:pt x="17803" y="736006"/>
                    <a:pt x="10854" y="729056"/>
                  </a:cubicBezTo>
                  <a:cubicBezTo>
                    <a:pt x="3904" y="722107"/>
                    <a:pt x="0" y="712682"/>
                    <a:pt x="0" y="702854"/>
                  </a:cubicBezTo>
                  <a:lnTo>
                    <a:pt x="0" y="37056"/>
                  </a:lnTo>
                  <a:cubicBezTo>
                    <a:pt x="0" y="27228"/>
                    <a:pt x="3904" y="17803"/>
                    <a:pt x="10854" y="10854"/>
                  </a:cubicBezTo>
                  <a:cubicBezTo>
                    <a:pt x="17803" y="3904"/>
                    <a:pt x="27228" y="0"/>
                    <a:pt x="37056" y="0"/>
                  </a:cubicBezTo>
                  <a:close/>
                </a:path>
              </a:pathLst>
            </a:custGeom>
            <a:blipFill>
              <a:blip r:embed="rId5"/>
              <a:stretch>
                <a:fillRect l="0" t="-22115" r="0" b="-22115"/>
              </a:stretch>
            </a:blipFill>
          </p:spPr>
        </p:sp>
      </p:grpSp>
      <p:sp>
        <p:nvSpPr>
          <p:cNvPr name="TextBox 23" id="23"/>
          <p:cNvSpPr txBox="true"/>
          <p:nvPr/>
        </p:nvSpPr>
        <p:spPr>
          <a:xfrm rot="0">
            <a:off x="6610200" y="1402317"/>
            <a:ext cx="5879206" cy="933196"/>
          </a:xfrm>
          <a:prstGeom prst="rect">
            <a:avLst/>
          </a:prstGeom>
        </p:spPr>
        <p:txBody>
          <a:bodyPr anchor="t" rtlCol="false" tIns="0" lIns="0" bIns="0" rIns="0">
            <a:spAutoFit/>
          </a:bodyPr>
          <a:lstStyle/>
          <a:p>
            <a:pPr algn="ctr">
              <a:lnSpc>
                <a:spcPts val="7231"/>
              </a:lnSpc>
            </a:pPr>
            <a:r>
              <a:rPr lang="en-US" b="true" sz="6399" spc="-236">
                <a:solidFill>
                  <a:srgbClr val="00172C"/>
                </a:solidFill>
                <a:latin typeface="Open Sauce Bold"/>
                <a:ea typeface="Open Sauce Bold"/>
                <a:cs typeface="Open Sauce Bold"/>
                <a:sym typeface="Open Sauce Bold"/>
              </a:rPr>
              <a:t>KEY FINDINGS</a:t>
            </a:r>
          </a:p>
        </p:txBody>
      </p:sp>
      <p:sp>
        <p:nvSpPr>
          <p:cNvPr name="TextBox 24" id="24"/>
          <p:cNvSpPr txBox="true"/>
          <p:nvPr/>
        </p:nvSpPr>
        <p:spPr>
          <a:xfrm rot="0">
            <a:off x="2094089" y="928416"/>
            <a:ext cx="1755880" cy="210093"/>
          </a:xfrm>
          <a:prstGeom prst="rect">
            <a:avLst/>
          </a:prstGeom>
        </p:spPr>
        <p:txBody>
          <a:bodyPr anchor="t" rtlCol="false" tIns="0" lIns="0" bIns="0" rIns="0">
            <a:spAutoFit/>
          </a:bodyPr>
          <a:lstStyle/>
          <a:p>
            <a:pPr algn="l">
              <a:lnSpc>
                <a:spcPts val="1660"/>
              </a:lnSpc>
            </a:pPr>
            <a:r>
              <a:rPr lang="en-US" b="true" sz="1469" spc="23">
                <a:solidFill>
                  <a:srgbClr val="F8FCFF"/>
                </a:solidFill>
                <a:latin typeface="Open Sauce Bold"/>
                <a:ea typeface="Open Sauce Bold"/>
                <a:cs typeface="Open Sauce Bold"/>
                <a:sym typeface="Open Sauce Bold"/>
              </a:rPr>
              <a:t>ATTRISENSE</a:t>
            </a:r>
          </a:p>
        </p:txBody>
      </p:sp>
      <p:sp>
        <p:nvSpPr>
          <p:cNvPr name="TextBox 25" id="25"/>
          <p:cNvSpPr txBox="true"/>
          <p:nvPr/>
        </p:nvSpPr>
        <p:spPr>
          <a:xfrm rot="0">
            <a:off x="1544888" y="7096332"/>
            <a:ext cx="3302301" cy="1851660"/>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Employees working overtime showed</a:t>
            </a:r>
          </a:p>
          <a:p>
            <a:pPr algn="l">
              <a:lnSpc>
                <a:spcPts val="2940"/>
              </a:lnSpc>
            </a:pPr>
            <a:r>
              <a:rPr lang="en-US" sz="2100" spc="33">
                <a:solidFill>
                  <a:srgbClr val="F8FCFF"/>
                </a:solidFill>
                <a:latin typeface="Open Sauce"/>
                <a:ea typeface="Open Sauce"/>
                <a:cs typeface="Open Sauce"/>
                <a:sym typeface="Open Sauce"/>
              </a:rPr>
              <a:t>30.5%</a:t>
            </a:r>
          </a:p>
          <a:p>
            <a:pPr algn="l">
              <a:lnSpc>
                <a:spcPts val="2940"/>
              </a:lnSpc>
            </a:pPr>
            <a:r>
              <a:rPr lang="en-US" sz="2100" spc="33">
                <a:solidFill>
                  <a:srgbClr val="F8FCFF"/>
                </a:solidFill>
                <a:latin typeface="Open Sauce"/>
                <a:ea typeface="Open Sauce"/>
                <a:cs typeface="Open Sauce"/>
                <a:sym typeface="Open Sauce"/>
              </a:rPr>
              <a:t>attrition.</a:t>
            </a:r>
          </a:p>
          <a:p>
            <a:pPr algn="l">
              <a:lnSpc>
                <a:spcPts val="2940"/>
              </a:lnSpc>
            </a:pPr>
          </a:p>
        </p:txBody>
      </p:sp>
      <p:sp>
        <p:nvSpPr>
          <p:cNvPr name="TextBox 26" id="26"/>
          <p:cNvSpPr txBox="true"/>
          <p:nvPr/>
        </p:nvSpPr>
        <p:spPr>
          <a:xfrm rot="0">
            <a:off x="5574061" y="6406722"/>
            <a:ext cx="2276920"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Job Satisfaction</a:t>
            </a:r>
          </a:p>
        </p:txBody>
      </p:sp>
      <p:sp>
        <p:nvSpPr>
          <p:cNvPr name="TextBox 27" id="27"/>
          <p:cNvSpPr txBox="true"/>
          <p:nvPr/>
        </p:nvSpPr>
        <p:spPr>
          <a:xfrm rot="0">
            <a:off x="5598138" y="7531290"/>
            <a:ext cx="3137932"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Low satisfaction</a:t>
            </a:r>
          </a:p>
          <a:p>
            <a:pPr algn="l">
              <a:lnSpc>
                <a:spcPts val="2940"/>
              </a:lnSpc>
            </a:pPr>
            <a:r>
              <a:rPr lang="en-US" sz="2100" spc="33">
                <a:solidFill>
                  <a:srgbClr val="F8FCFF"/>
                </a:solidFill>
                <a:latin typeface="Open Sauce"/>
                <a:ea typeface="Open Sauce"/>
                <a:cs typeface="Open Sauce"/>
                <a:sym typeface="Open Sauce"/>
              </a:rPr>
              <a:t>showed highest</a:t>
            </a:r>
          </a:p>
          <a:p>
            <a:pPr algn="l">
              <a:lnSpc>
                <a:spcPts val="2940"/>
              </a:lnSpc>
            </a:pPr>
            <a:r>
              <a:rPr lang="en-US" sz="2100" spc="33">
                <a:solidFill>
                  <a:srgbClr val="F8FCFF"/>
                </a:solidFill>
                <a:latin typeface="Open Sauce"/>
                <a:ea typeface="Open Sauce"/>
                <a:cs typeface="Open Sauce"/>
                <a:sym typeface="Open Sauce"/>
              </a:rPr>
              <a:t>attrition.</a:t>
            </a:r>
          </a:p>
          <a:p>
            <a:pPr algn="l">
              <a:lnSpc>
                <a:spcPts val="2940"/>
              </a:lnSpc>
            </a:pPr>
          </a:p>
        </p:txBody>
      </p:sp>
      <p:sp>
        <p:nvSpPr>
          <p:cNvPr name="TextBox 28" id="28"/>
          <p:cNvSpPr txBox="true"/>
          <p:nvPr/>
        </p:nvSpPr>
        <p:spPr>
          <a:xfrm rot="0">
            <a:off x="9575072" y="6406722"/>
            <a:ext cx="2276920"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Income</a:t>
            </a:r>
          </a:p>
        </p:txBody>
      </p:sp>
      <p:sp>
        <p:nvSpPr>
          <p:cNvPr name="TextBox 29" id="29"/>
          <p:cNvSpPr txBox="true"/>
          <p:nvPr/>
        </p:nvSpPr>
        <p:spPr>
          <a:xfrm rot="0">
            <a:off x="9599149" y="7531290"/>
            <a:ext cx="3236584"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Lower income</a:t>
            </a:r>
          </a:p>
          <a:p>
            <a:pPr algn="l">
              <a:lnSpc>
                <a:spcPts val="2940"/>
              </a:lnSpc>
            </a:pPr>
            <a:r>
              <a:rPr lang="en-US" sz="2100" spc="33">
                <a:solidFill>
                  <a:srgbClr val="F8FCFF"/>
                </a:solidFill>
                <a:latin typeface="Open Sauce"/>
                <a:ea typeface="Open Sauce"/>
                <a:cs typeface="Open Sauce"/>
                <a:sym typeface="Open Sauce"/>
              </a:rPr>
              <a:t>associated with</a:t>
            </a:r>
          </a:p>
          <a:p>
            <a:pPr algn="l">
              <a:lnSpc>
                <a:spcPts val="2940"/>
              </a:lnSpc>
            </a:pPr>
            <a:r>
              <a:rPr lang="en-US" sz="2100" spc="33">
                <a:solidFill>
                  <a:srgbClr val="F8FCFF"/>
                </a:solidFill>
                <a:latin typeface="Open Sauce"/>
                <a:ea typeface="Open Sauce"/>
                <a:cs typeface="Open Sauce"/>
                <a:sym typeface="Open Sauce"/>
              </a:rPr>
              <a:t>higher attrition.</a:t>
            </a:r>
          </a:p>
          <a:p>
            <a:pPr algn="l">
              <a:lnSpc>
                <a:spcPts val="2940"/>
              </a:lnSpc>
            </a:pPr>
          </a:p>
        </p:txBody>
      </p:sp>
      <p:sp>
        <p:nvSpPr>
          <p:cNvPr name="TextBox 30" id="30"/>
          <p:cNvSpPr txBox="true"/>
          <p:nvPr/>
        </p:nvSpPr>
        <p:spPr>
          <a:xfrm rot="0">
            <a:off x="13576083" y="6406722"/>
            <a:ext cx="2276920" cy="365760"/>
          </a:xfrm>
          <a:prstGeom prst="rect">
            <a:avLst/>
          </a:prstGeom>
        </p:spPr>
        <p:txBody>
          <a:bodyPr anchor="t" rtlCol="false" tIns="0" lIns="0" bIns="0" rIns="0">
            <a:spAutoFit/>
          </a:bodyPr>
          <a:lstStyle/>
          <a:p>
            <a:pPr algn="l">
              <a:lnSpc>
                <a:spcPts val="2940"/>
              </a:lnSpc>
            </a:pPr>
            <a:r>
              <a:rPr lang="en-US" sz="2100" b="true">
                <a:solidFill>
                  <a:srgbClr val="F8FCFF"/>
                </a:solidFill>
                <a:latin typeface="Open Sauce Bold"/>
                <a:ea typeface="Open Sauce Bold"/>
                <a:cs typeface="Open Sauce Bold"/>
                <a:sym typeface="Open Sauce Bold"/>
              </a:rPr>
              <a:t>Explainable AI</a:t>
            </a:r>
          </a:p>
        </p:txBody>
      </p:sp>
      <p:sp>
        <p:nvSpPr>
          <p:cNvPr name="TextBox 31" id="31"/>
          <p:cNvSpPr txBox="true"/>
          <p:nvPr/>
        </p:nvSpPr>
        <p:spPr>
          <a:xfrm rot="0">
            <a:off x="13600160" y="7531290"/>
            <a:ext cx="3321001" cy="1480185"/>
          </a:xfrm>
          <a:prstGeom prst="rect">
            <a:avLst/>
          </a:prstGeom>
        </p:spPr>
        <p:txBody>
          <a:bodyPr anchor="t" rtlCol="false" tIns="0" lIns="0" bIns="0" rIns="0">
            <a:spAutoFit/>
          </a:bodyPr>
          <a:lstStyle/>
          <a:p>
            <a:pPr algn="l">
              <a:lnSpc>
                <a:spcPts val="2940"/>
              </a:lnSpc>
            </a:pPr>
            <a:r>
              <a:rPr lang="en-US" sz="2100" spc="33">
                <a:solidFill>
                  <a:srgbClr val="F8FCFF"/>
                </a:solidFill>
                <a:latin typeface="Open Sauce"/>
                <a:ea typeface="Open Sauce"/>
                <a:cs typeface="Open Sauce"/>
                <a:sym typeface="Open Sauce"/>
              </a:rPr>
              <a:t>SHAP identifies</a:t>
            </a:r>
          </a:p>
          <a:p>
            <a:pPr algn="l">
              <a:lnSpc>
                <a:spcPts val="2940"/>
              </a:lnSpc>
            </a:pPr>
            <a:r>
              <a:rPr lang="en-US" sz="2100" spc="33">
                <a:solidFill>
                  <a:srgbClr val="F8FCFF"/>
                </a:solidFill>
                <a:latin typeface="Open Sauce"/>
                <a:ea typeface="Open Sauce"/>
                <a:cs typeface="Open Sauce"/>
                <a:sym typeface="Open Sauce"/>
              </a:rPr>
              <a:t>major factors behind</a:t>
            </a:r>
          </a:p>
          <a:p>
            <a:pPr algn="l">
              <a:lnSpc>
                <a:spcPts val="2940"/>
              </a:lnSpc>
            </a:pPr>
            <a:r>
              <a:rPr lang="en-US" sz="2100" spc="33">
                <a:solidFill>
                  <a:srgbClr val="F8FCFF"/>
                </a:solidFill>
                <a:latin typeface="Open Sauce"/>
                <a:ea typeface="Open Sauce"/>
                <a:cs typeface="Open Sauce"/>
                <a:sym typeface="Open Sauce"/>
              </a:rPr>
              <a:t>each prediction.</a:t>
            </a:r>
          </a:p>
          <a:p>
            <a:pPr algn="l">
              <a:lnSpc>
                <a:spcPts val="294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2021834" y="1028700"/>
            <a:ext cx="15237466" cy="959241"/>
            <a:chOff x="0" y="0"/>
            <a:chExt cx="4013160" cy="252640"/>
          </a:xfrm>
        </p:grpSpPr>
        <p:sp>
          <p:nvSpPr>
            <p:cNvPr name="Freeform 3" id="3"/>
            <p:cNvSpPr/>
            <p:nvPr/>
          </p:nvSpPr>
          <p:spPr>
            <a:xfrm flipH="false" flipV="false" rot="0">
              <a:off x="0" y="0"/>
              <a:ext cx="4013160" cy="252640"/>
            </a:xfrm>
            <a:custGeom>
              <a:avLst/>
              <a:gdLst/>
              <a:ahLst/>
              <a:cxnLst/>
              <a:rect r="r" b="b" t="t" l="l"/>
              <a:pathLst>
                <a:path h="252640" w="4013160">
                  <a:moveTo>
                    <a:pt x="25912" y="0"/>
                  </a:moveTo>
                  <a:lnTo>
                    <a:pt x="3987247" y="0"/>
                  </a:lnTo>
                  <a:cubicBezTo>
                    <a:pt x="4001558" y="0"/>
                    <a:pt x="4013160" y="11601"/>
                    <a:pt x="4013160" y="25912"/>
                  </a:cubicBezTo>
                  <a:lnTo>
                    <a:pt x="4013160" y="226727"/>
                  </a:lnTo>
                  <a:cubicBezTo>
                    <a:pt x="4013160" y="233600"/>
                    <a:pt x="4010430" y="240191"/>
                    <a:pt x="4005570" y="245050"/>
                  </a:cubicBezTo>
                  <a:cubicBezTo>
                    <a:pt x="4000711" y="249910"/>
                    <a:pt x="3994120" y="252640"/>
                    <a:pt x="3987247" y="252640"/>
                  </a:cubicBezTo>
                  <a:lnTo>
                    <a:pt x="25912" y="252640"/>
                  </a:lnTo>
                  <a:cubicBezTo>
                    <a:pt x="11601" y="252640"/>
                    <a:pt x="0" y="241038"/>
                    <a:pt x="0" y="226727"/>
                  </a:cubicBezTo>
                  <a:lnTo>
                    <a:pt x="0" y="25912"/>
                  </a:lnTo>
                  <a:cubicBezTo>
                    <a:pt x="0" y="19040"/>
                    <a:pt x="2730" y="12449"/>
                    <a:pt x="7590" y="7590"/>
                  </a:cubicBezTo>
                  <a:cubicBezTo>
                    <a:pt x="12449" y="2730"/>
                    <a:pt x="19040" y="0"/>
                    <a:pt x="25912" y="0"/>
                  </a:cubicBezTo>
                  <a:close/>
                </a:path>
              </a:pathLst>
            </a:custGeom>
            <a:solidFill>
              <a:srgbClr val="F8FCFF"/>
            </a:solidFill>
            <a:ln w="38100" cap="rnd">
              <a:solidFill>
                <a:srgbClr val="0063C2"/>
              </a:solidFill>
              <a:prstDash val="solid"/>
              <a:round/>
            </a:ln>
          </p:spPr>
        </p:sp>
        <p:sp>
          <p:nvSpPr>
            <p:cNvPr name="TextBox 4" id="4"/>
            <p:cNvSpPr txBox="true"/>
            <p:nvPr/>
          </p:nvSpPr>
          <p:spPr>
            <a:xfrm>
              <a:off x="0" y="-38100"/>
              <a:ext cx="4013160" cy="29074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028700"/>
            <a:ext cx="4405296" cy="959241"/>
            <a:chOff x="0" y="0"/>
            <a:chExt cx="1160243" cy="252640"/>
          </a:xfrm>
        </p:grpSpPr>
        <p:sp>
          <p:nvSpPr>
            <p:cNvPr name="Freeform 6" id="6"/>
            <p:cNvSpPr/>
            <p:nvPr/>
          </p:nvSpPr>
          <p:spPr>
            <a:xfrm flipH="false" flipV="false" rot="0">
              <a:off x="0" y="0"/>
              <a:ext cx="1160243" cy="252640"/>
            </a:xfrm>
            <a:custGeom>
              <a:avLst/>
              <a:gdLst/>
              <a:ahLst/>
              <a:cxnLst/>
              <a:rect r="r" b="b" t="t" l="l"/>
              <a:pathLst>
                <a:path h="252640" w="1160243">
                  <a:moveTo>
                    <a:pt x="89628" y="0"/>
                  </a:moveTo>
                  <a:lnTo>
                    <a:pt x="1070614" y="0"/>
                  </a:lnTo>
                  <a:cubicBezTo>
                    <a:pt x="1120115" y="0"/>
                    <a:pt x="1160243" y="40128"/>
                    <a:pt x="1160243" y="89628"/>
                  </a:cubicBezTo>
                  <a:lnTo>
                    <a:pt x="1160243" y="163012"/>
                  </a:lnTo>
                  <a:cubicBezTo>
                    <a:pt x="1160243" y="186783"/>
                    <a:pt x="1150800" y="209580"/>
                    <a:pt x="1133991" y="226388"/>
                  </a:cubicBezTo>
                  <a:cubicBezTo>
                    <a:pt x="1117183" y="243197"/>
                    <a:pt x="1094385" y="252640"/>
                    <a:pt x="1070614" y="252640"/>
                  </a:cubicBezTo>
                  <a:lnTo>
                    <a:pt x="89628" y="252640"/>
                  </a:lnTo>
                  <a:cubicBezTo>
                    <a:pt x="65857" y="252640"/>
                    <a:pt x="43060" y="243197"/>
                    <a:pt x="26251" y="226388"/>
                  </a:cubicBezTo>
                  <a:cubicBezTo>
                    <a:pt x="9443" y="209580"/>
                    <a:pt x="0" y="186783"/>
                    <a:pt x="0" y="163012"/>
                  </a:cubicBezTo>
                  <a:lnTo>
                    <a:pt x="0" y="89628"/>
                  </a:lnTo>
                  <a:cubicBezTo>
                    <a:pt x="0" y="65857"/>
                    <a:pt x="9443" y="43060"/>
                    <a:pt x="26251" y="26251"/>
                  </a:cubicBezTo>
                  <a:cubicBezTo>
                    <a:pt x="43060" y="9443"/>
                    <a:pt x="65857" y="0"/>
                    <a:pt x="89628" y="0"/>
                  </a:cubicBezTo>
                  <a:close/>
                </a:path>
              </a:pathLst>
            </a:custGeom>
            <a:solidFill>
              <a:srgbClr val="0063C2"/>
            </a:solidFill>
          </p:spPr>
        </p:sp>
        <p:sp>
          <p:nvSpPr>
            <p:cNvPr name="TextBox 7" id="7"/>
            <p:cNvSpPr txBox="true"/>
            <p:nvPr/>
          </p:nvSpPr>
          <p:spPr>
            <a:xfrm>
              <a:off x="0" y="-38100"/>
              <a:ext cx="1160243" cy="29074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66590" y="1253076"/>
            <a:ext cx="510489" cy="510489"/>
          </a:xfrm>
          <a:custGeom>
            <a:avLst/>
            <a:gdLst/>
            <a:ahLst/>
            <a:cxnLst/>
            <a:rect r="r" b="b" t="t" l="l"/>
            <a:pathLst>
              <a:path h="510489" w="510489">
                <a:moveTo>
                  <a:pt x="0" y="0"/>
                </a:moveTo>
                <a:lnTo>
                  <a:pt x="510489" y="0"/>
                </a:lnTo>
                <a:lnTo>
                  <a:pt x="510489" y="510489"/>
                </a:lnTo>
                <a:lnTo>
                  <a:pt x="0" y="5104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2406293"/>
            <a:ext cx="7939097" cy="6852007"/>
            <a:chOff x="0" y="0"/>
            <a:chExt cx="2016998" cy="1740813"/>
          </a:xfrm>
        </p:grpSpPr>
        <p:sp>
          <p:nvSpPr>
            <p:cNvPr name="Freeform 10" id="10"/>
            <p:cNvSpPr/>
            <p:nvPr/>
          </p:nvSpPr>
          <p:spPr>
            <a:xfrm flipH="false" flipV="false" rot="0">
              <a:off x="0" y="0"/>
              <a:ext cx="2016998" cy="1740813"/>
            </a:xfrm>
            <a:custGeom>
              <a:avLst/>
              <a:gdLst/>
              <a:ahLst/>
              <a:cxnLst/>
              <a:rect r="r" b="b" t="t" l="l"/>
              <a:pathLst>
                <a:path h="1740813" w="2016998">
                  <a:moveTo>
                    <a:pt x="37056" y="0"/>
                  </a:moveTo>
                  <a:lnTo>
                    <a:pt x="1979942" y="0"/>
                  </a:lnTo>
                  <a:cubicBezTo>
                    <a:pt x="1989769" y="0"/>
                    <a:pt x="1999195" y="3904"/>
                    <a:pt x="2006144" y="10854"/>
                  </a:cubicBezTo>
                  <a:cubicBezTo>
                    <a:pt x="2013094" y="17803"/>
                    <a:pt x="2016998" y="27228"/>
                    <a:pt x="2016998" y="37056"/>
                  </a:cubicBezTo>
                  <a:lnTo>
                    <a:pt x="2016998" y="1703757"/>
                  </a:lnTo>
                  <a:cubicBezTo>
                    <a:pt x="2016998" y="1713585"/>
                    <a:pt x="2013094" y="1723010"/>
                    <a:pt x="2006144" y="1729959"/>
                  </a:cubicBezTo>
                  <a:cubicBezTo>
                    <a:pt x="1999195" y="1736909"/>
                    <a:pt x="1989769" y="1740813"/>
                    <a:pt x="1979942" y="1740813"/>
                  </a:cubicBezTo>
                  <a:lnTo>
                    <a:pt x="37056" y="1740813"/>
                  </a:lnTo>
                  <a:cubicBezTo>
                    <a:pt x="27228" y="1740813"/>
                    <a:pt x="17803" y="1736909"/>
                    <a:pt x="10854" y="1729959"/>
                  </a:cubicBezTo>
                  <a:cubicBezTo>
                    <a:pt x="3904" y="1723010"/>
                    <a:pt x="0" y="1713585"/>
                    <a:pt x="0" y="1703757"/>
                  </a:cubicBezTo>
                  <a:lnTo>
                    <a:pt x="0" y="37056"/>
                  </a:lnTo>
                  <a:cubicBezTo>
                    <a:pt x="0" y="27228"/>
                    <a:pt x="3904" y="17803"/>
                    <a:pt x="10854" y="10854"/>
                  </a:cubicBezTo>
                  <a:cubicBezTo>
                    <a:pt x="17803" y="3904"/>
                    <a:pt x="27228" y="0"/>
                    <a:pt x="37056" y="0"/>
                  </a:cubicBezTo>
                  <a:close/>
                </a:path>
              </a:pathLst>
            </a:custGeom>
            <a:blipFill>
              <a:blip r:embed="rId4"/>
              <a:stretch>
                <a:fillRect l="-31561" t="0" r="-31561" b="0"/>
              </a:stretch>
            </a:blipFill>
          </p:spPr>
        </p:sp>
      </p:grpSp>
      <p:grpSp>
        <p:nvGrpSpPr>
          <p:cNvPr name="Group 11" id="11"/>
          <p:cNvGrpSpPr/>
          <p:nvPr/>
        </p:nvGrpSpPr>
        <p:grpSpPr>
          <a:xfrm rot="0">
            <a:off x="9144000" y="2415614"/>
            <a:ext cx="8115300" cy="6842686"/>
            <a:chOff x="0" y="0"/>
            <a:chExt cx="2137363" cy="1802189"/>
          </a:xfrm>
        </p:grpSpPr>
        <p:sp>
          <p:nvSpPr>
            <p:cNvPr name="Freeform 12" id="12"/>
            <p:cNvSpPr/>
            <p:nvPr/>
          </p:nvSpPr>
          <p:spPr>
            <a:xfrm flipH="false" flipV="false" rot="0">
              <a:off x="0" y="0"/>
              <a:ext cx="2137363" cy="1802189"/>
            </a:xfrm>
            <a:custGeom>
              <a:avLst/>
              <a:gdLst/>
              <a:ahLst/>
              <a:cxnLst/>
              <a:rect r="r" b="b" t="t" l="l"/>
              <a:pathLst>
                <a:path h="1802189" w="2137363">
                  <a:moveTo>
                    <a:pt x="34344" y="0"/>
                  </a:moveTo>
                  <a:lnTo>
                    <a:pt x="2103019" y="0"/>
                  </a:lnTo>
                  <a:cubicBezTo>
                    <a:pt x="2112128" y="0"/>
                    <a:pt x="2120863" y="3618"/>
                    <a:pt x="2127304" y="10059"/>
                  </a:cubicBezTo>
                  <a:cubicBezTo>
                    <a:pt x="2133745" y="16500"/>
                    <a:pt x="2137363" y="25235"/>
                    <a:pt x="2137363" y="34344"/>
                  </a:cubicBezTo>
                  <a:lnTo>
                    <a:pt x="2137363" y="1767845"/>
                  </a:lnTo>
                  <a:cubicBezTo>
                    <a:pt x="2137363" y="1776954"/>
                    <a:pt x="2133745" y="1785689"/>
                    <a:pt x="2127304" y="1792130"/>
                  </a:cubicBezTo>
                  <a:cubicBezTo>
                    <a:pt x="2120863" y="1798570"/>
                    <a:pt x="2112128" y="1802189"/>
                    <a:pt x="2103019" y="1802189"/>
                  </a:cubicBezTo>
                  <a:lnTo>
                    <a:pt x="34344" y="1802189"/>
                  </a:lnTo>
                  <a:cubicBezTo>
                    <a:pt x="25235" y="1802189"/>
                    <a:pt x="16500" y="1798570"/>
                    <a:pt x="10059" y="1792130"/>
                  </a:cubicBezTo>
                  <a:cubicBezTo>
                    <a:pt x="3618" y="1785689"/>
                    <a:pt x="0" y="1776954"/>
                    <a:pt x="0" y="1767845"/>
                  </a:cubicBezTo>
                  <a:lnTo>
                    <a:pt x="0" y="34344"/>
                  </a:lnTo>
                  <a:cubicBezTo>
                    <a:pt x="0" y="25235"/>
                    <a:pt x="3618" y="16500"/>
                    <a:pt x="10059" y="10059"/>
                  </a:cubicBezTo>
                  <a:cubicBezTo>
                    <a:pt x="16500" y="3618"/>
                    <a:pt x="25235" y="0"/>
                    <a:pt x="34344" y="0"/>
                  </a:cubicBezTo>
                  <a:close/>
                </a:path>
              </a:pathLst>
            </a:custGeom>
            <a:solidFill>
              <a:srgbClr val="0063C2"/>
            </a:solidFill>
          </p:spPr>
        </p:sp>
        <p:sp>
          <p:nvSpPr>
            <p:cNvPr name="TextBox 13" id="13"/>
            <p:cNvSpPr txBox="true"/>
            <p:nvPr/>
          </p:nvSpPr>
          <p:spPr>
            <a:xfrm>
              <a:off x="0" y="9525"/>
              <a:ext cx="2137363" cy="1792664"/>
            </a:xfrm>
            <a:prstGeom prst="rect">
              <a:avLst/>
            </a:prstGeom>
          </p:spPr>
          <p:txBody>
            <a:bodyPr anchor="ctr" rtlCol="false" tIns="50800" lIns="50800" bIns="50800" rIns="50800"/>
            <a:lstStyle/>
            <a:p>
              <a:pPr algn="ctr">
                <a:lnSpc>
                  <a:spcPts val="2372"/>
                </a:lnSpc>
              </a:pPr>
            </a:p>
          </p:txBody>
        </p:sp>
      </p:grpSp>
      <p:grpSp>
        <p:nvGrpSpPr>
          <p:cNvPr name="Group 14" id="14"/>
          <p:cNvGrpSpPr/>
          <p:nvPr/>
        </p:nvGrpSpPr>
        <p:grpSpPr>
          <a:xfrm rot="0">
            <a:off x="9680096" y="5596628"/>
            <a:ext cx="6981465" cy="3151596"/>
            <a:chOff x="0" y="0"/>
            <a:chExt cx="1838740" cy="830050"/>
          </a:xfrm>
        </p:grpSpPr>
        <p:sp>
          <p:nvSpPr>
            <p:cNvPr name="Freeform 15" id="15"/>
            <p:cNvSpPr/>
            <p:nvPr/>
          </p:nvSpPr>
          <p:spPr>
            <a:xfrm flipH="false" flipV="false" rot="0">
              <a:off x="0" y="0"/>
              <a:ext cx="1838740" cy="830050"/>
            </a:xfrm>
            <a:custGeom>
              <a:avLst/>
              <a:gdLst/>
              <a:ahLst/>
              <a:cxnLst/>
              <a:rect r="r" b="b" t="t" l="l"/>
              <a:pathLst>
                <a:path h="830050" w="1838740">
                  <a:moveTo>
                    <a:pt x="39921" y="0"/>
                  </a:moveTo>
                  <a:lnTo>
                    <a:pt x="1798818" y="0"/>
                  </a:lnTo>
                  <a:cubicBezTo>
                    <a:pt x="1809406" y="0"/>
                    <a:pt x="1819560" y="4206"/>
                    <a:pt x="1827047" y="11693"/>
                  </a:cubicBezTo>
                  <a:cubicBezTo>
                    <a:pt x="1834534" y="19179"/>
                    <a:pt x="1838740" y="29334"/>
                    <a:pt x="1838740" y="39921"/>
                  </a:cubicBezTo>
                  <a:lnTo>
                    <a:pt x="1838740" y="790129"/>
                  </a:lnTo>
                  <a:cubicBezTo>
                    <a:pt x="1838740" y="812177"/>
                    <a:pt x="1820866" y="830050"/>
                    <a:pt x="1798818" y="830050"/>
                  </a:cubicBezTo>
                  <a:lnTo>
                    <a:pt x="39921" y="830050"/>
                  </a:lnTo>
                  <a:cubicBezTo>
                    <a:pt x="17873" y="830050"/>
                    <a:pt x="0" y="812177"/>
                    <a:pt x="0" y="790129"/>
                  </a:cubicBezTo>
                  <a:lnTo>
                    <a:pt x="0" y="39921"/>
                  </a:lnTo>
                  <a:cubicBezTo>
                    <a:pt x="0" y="17873"/>
                    <a:pt x="17873" y="0"/>
                    <a:pt x="39921" y="0"/>
                  </a:cubicBezTo>
                  <a:close/>
                </a:path>
              </a:pathLst>
            </a:custGeom>
            <a:solidFill>
              <a:srgbClr val="00172C"/>
            </a:solidFill>
          </p:spPr>
        </p:sp>
        <p:sp>
          <p:nvSpPr>
            <p:cNvPr name="TextBox 16" id="16"/>
            <p:cNvSpPr txBox="true"/>
            <p:nvPr/>
          </p:nvSpPr>
          <p:spPr>
            <a:xfrm>
              <a:off x="0" y="9525"/>
              <a:ext cx="1838740" cy="820525"/>
            </a:xfrm>
            <a:prstGeom prst="rect">
              <a:avLst/>
            </a:prstGeom>
          </p:spPr>
          <p:txBody>
            <a:bodyPr anchor="ctr" rtlCol="false" tIns="50800" lIns="50800" bIns="50800" rIns="50800"/>
            <a:lstStyle/>
            <a:p>
              <a:pPr algn="ctr">
                <a:lnSpc>
                  <a:spcPts val="2372"/>
                </a:lnSpc>
              </a:pPr>
            </a:p>
          </p:txBody>
        </p:sp>
      </p:grpSp>
      <p:sp>
        <p:nvSpPr>
          <p:cNvPr name="TextBox 17" id="17"/>
          <p:cNvSpPr txBox="true"/>
          <p:nvPr/>
        </p:nvSpPr>
        <p:spPr>
          <a:xfrm rot="0">
            <a:off x="2551673" y="1360874"/>
            <a:ext cx="2510030" cy="304419"/>
          </a:xfrm>
          <a:prstGeom prst="rect">
            <a:avLst/>
          </a:prstGeom>
        </p:spPr>
        <p:txBody>
          <a:bodyPr anchor="t" rtlCol="false" tIns="0" lIns="0" bIns="0" rIns="0">
            <a:spAutoFit/>
          </a:bodyPr>
          <a:lstStyle/>
          <a:p>
            <a:pPr algn="l">
              <a:lnSpc>
                <a:spcPts val="2372"/>
              </a:lnSpc>
            </a:pPr>
            <a:r>
              <a:rPr lang="en-US" b="true" sz="2100" spc="33">
                <a:solidFill>
                  <a:srgbClr val="F8FCFF"/>
                </a:solidFill>
                <a:latin typeface="Open Sauce Bold"/>
                <a:ea typeface="Open Sauce Bold"/>
                <a:cs typeface="Open Sauce Bold"/>
                <a:sym typeface="Open Sauce Bold"/>
              </a:rPr>
              <a:t>ATTRISENSE</a:t>
            </a:r>
          </a:p>
        </p:txBody>
      </p:sp>
      <p:sp>
        <p:nvSpPr>
          <p:cNvPr name="TextBox 18" id="18"/>
          <p:cNvSpPr txBox="true"/>
          <p:nvPr/>
        </p:nvSpPr>
        <p:spPr>
          <a:xfrm rot="0">
            <a:off x="10340479" y="1363153"/>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Prediction</a:t>
            </a:r>
          </a:p>
        </p:txBody>
      </p:sp>
      <p:sp>
        <p:nvSpPr>
          <p:cNvPr name="TextBox 19" id="19"/>
          <p:cNvSpPr txBox="true"/>
          <p:nvPr/>
        </p:nvSpPr>
        <p:spPr>
          <a:xfrm rot="0">
            <a:off x="12404314" y="1363153"/>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Insights</a:t>
            </a:r>
          </a:p>
        </p:txBody>
      </p:sp>
      <p:sp>
        <p:nvSpPr>
          <p:cNvPr name="TextBox 20" id="20"/>
          <p:cNvSpPr txBox="true"/>
          <p:nvPr/>
        </p:nvSpPr>
        <p:spPr>
          <a:xfrm rot="0">
            <a:off x="14439516" y="1363153"/>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Explainable AI</a:t>
            </a:r>
          </a:p>
        </p:txBody>
      </p:sp>
      <p:sp>
        <p:nvSpPr>
          <p:cNvPr name="TextBox 21" id="21"/>
          <p:cNvSpPr txBox="true"/>
          <p:nvPr/>
        </p:nvSpPr>
        <p:spPr>
          <a:xfrm rot="0">
            <a:off x="10516951" y="3312728"/>
            <a:ext cx="5566658" cy="981213"/>
          </a:xfrm>
          <a:prstGeom prst="rect">
            <a:avLst/>
          </a:prstGeom>
        </p:spPr>
        <p:txBody>
          <a:bodyPr anchor="t" rtlCol="false" tIns="0" lIns="0" bIns="0" rIns="0">
            <a:spAutoFit/>
          </a:bodyPr>
          <a:lstStyle/>
          <a:p>
            <a:pPr algn="l">
              <a:lnSpc>
                <a:spcPts val="7566"/>
              </a:lnSpc>
            </a:pPr>
            <a:r>
              <a:rPr lang="en-US" b="true" sz="6695" spc="-247">
                <a:solidFill>
                  <a:srgbClr val="F8FCFF"/>
                </a:solidFill>
                <a:latin typeface="Open Sauce Bold"/>
                <a:ea typeface="Open Sauce Bold"/>
                <a:cs typeface="Open Sauce Bold"/>
                <a:sym typeface="Open Sauce Bold"/>
              </a:rPr>
              <a:t>THANK YOU</a:t>
            </a:r>
          </a:p>
        </p:txBody>
      </p:sp>
      <p:sp>
        <p:nvSpPr>
          <p:cNvPr name="TextBox 22" id="22"/>
          <p:cNvSpPr txBox="true"/>
          <p:nvPr/>
        </p:nvSpPr>
        <p:spPr>
          <a:xfrm rot="0">
            <a:off x="11343034" y="5912577"/>
            <a:ext cx="2063834" cy="1107256"/>
          </a:xfrm>
          <a:prstGeom prst="rect">
            <a:avLst/>
          </a:prstGeom>
        </p:spPr>
        <p:txBody>
          <a:bodyPr anchor="t" rtlCol="false" tIns="0" lIns="0" bIns="0" rIns="0">
            <a:spAutoFit/>
          </a:bodyPr>
          <a:lstStyle/>
          <a:p>
            <a:pPr algn="l">
              <a:lnSpc>
                <a:spcPts val="2935"/>
              </a:lnSpc>
            </a:pPr>
            <a:r>
              <a:rPr lang="en-US" sz="2097" spc="33">
                <a:solidFill>
                  <a:srgbClr val="F8FCFF"/>
                </a:solidFill>
                <a:latin typeface="Open Sauce"/>
                <a:ea typeface="Open Sauce"/>
                <a:cs typeface="Open Sauce"/>
                <a:sym typeface="Open Sauce"/>
              </a:rPr>
              <a:t>Developer: </a:t>
            </a:r>
            <a:r>
              <a:rPr lang="en-US" sz="2097" spc="33">
                <a:solidFill>
                  <a:srgbClr val="F8FCFF"/>
                </a:solidFill>
                <a:latin typeface="Open Sauce"/>
                <a:ea typeface="Open Sauce"/>
                <a:cs typeface="Open Sauce"/>
                <a:sym typeface="Open Sauce"/>
              </a:rPr>
              <a:t>Harsh Yadav</a:t>
            </a:r>
          </a:p>
          <a:p>
            <a:pPr algn="l">
              <a:lnSpc>
                <a:spcPts val="2935"/>
              </a:lnSpc>
            </a:pPr>
          </a:p>
        </p:txBody>
      </p:sp>
      <p:sp>
        <p:nvSpPr>
          <p:cNvPr name="TextBox 23" id="23"/>
          <p:cNvSpPr txBox="true"/>
          <p:nvPr/>
        </p:nvSpPr>
        <p:spPr>
          <a:xfrm rot="0">
            <a:off x="11348077" y="6991258"/>
            <a:ext cx="3707146" cy="885200"/>
          </a:xfrm>
          <a:prstGeom prst="rect">
            <a:avLst/>
          </a:prstGeom>
        </p:spPr>
        <p:txBody>
          <a:bodyPr anchor="t" rtlCol="false" tIns="0" lIns="0" bIns="0" rIns="0">
            <a:spAutoFit/>
          </a:bodyPr>
          <a:lstStyle/>
          <a:p>
            <a:pPr algn="l">
              <a:lnSpc>
                <a:spcPts val="2373"/>
              </a:lnSpc>
            </a:pPr>
            <a:r>
              <a:rPr lang="en-US" sz="1695" spc="27">
                <a:solidFill>
                  <a:srgbClr val="F8FCFF"/>
                </a:solidFill>
                <a:latin typeface="Open Sauce"/>
                <a:ea typeface="Open Sauce"/>
                <a:cs typeface="Open Sauce"/>
                <a:sym typeface="Open Sauce"/>
              </a:rPr>
              <a:t>College: </a:t>
            </a:r>
            <a:r>
              <a:rPr lang="en-US" sz="1695" spc="27">
                <a:solidFill>
                  <a:srgbClr val="F8FCFF"/>
                </a:solidFill>
                <a:latin typeface="Open Sauce"/>
                <a:ea typeface="Open Sauce"/>
                <a:cs typeface="Open Sauce"/>
                <a:sym typeface="Open Sauce"/>
              </a:rPr>
              <a:t>Unit</a:t>
            </a:r>
            <a:r>
              <a:rPr lang="en-US" sz="1695" spc="27">
                <a:solidFill>
                  <a:srgbClr val="F8FCFF"/>
                </a:solidFill>
                <a:latin typeface="Open Sauce"/>
                <a:ea typeface="Open Sauce"/>
                <a:cs typeface="Open Sauce"/>
                <a:sym typeface="Open Sauce"/>
              </a:rPr>
              <a:t>ed College of Engineering &amp; Research</a:t>
            </a:r>
          </a:p>
          <a:p>
            <a:pPr algn="l">
              <a:lnSpc>
                <a:spcPts val="2373"/>
              </a:lnSpc>
            </a:pPr>
          </a:p>
        </p:txBody>
      </p:sp>
      <p:sp>
        <p:nvSpPr>
          <p:cNvPr name="TextBox 24" id="24"/>
          <p:cNvSpPr txBox="true"/>
          <p:nvPr/>
        </p:nvSpPr>
        <p:spPr>
          <a:xfrm rot="0">
            <a:off x="11343034" y="7988328"/>
            <a:ext cx="3560633" cy="737235"/>
          </a:xfrm>
          <a:prstGeom prst="rect">
            <a:avLst/>
          </a:prstGeom>
        </p:spPr>
        <p:txBody>
          <a:bodyPr anchor="t" rtlCol="false" tIns="0" lIns="0" bIns="0" rIns="0">
            <a:spAutoFit/>
          </a:bodyPr>
          <a:lstStyle/>
          <a:p>
            <a:pPr algn="l" marL="0" indent="0" lvl="0">
              <a:lnSpc>
                <a:spcPts val="2940"/>
              </a:lnSpc>
              <a:spcBef>
                <a:spcPct val="0"/>
              </a:spcBef>
            </a:pPr>
            <a:r>
              <a:rPr lang="en-US" sz="2100" spc="33">
                <a:solidFill>
                  <a:srgbClr val="F8FCFF"/>
                </a:solidFill>
                <a:latin typeface="Open Sauce"/>
                <a:ea typeface="Open Sauce"/>
                <a:cs typeface="Open Sauce"/>
                <a:sym typeface="Open Sauce"/>
              </a:rPr>
              <a:t>Guid</a:t>
            </a:r>
            <a:r>
              <a:rPr lang="en-US" sz="2100" spc="33" strike="noStrike">
                <a:solidFill>
                  <a:srgbClr val="F8FCFF"/>
                </a:solidFill>
                <a:latin typeface="Open Sauce"/>
                <a:ea typeface="Open Sauce"/>
                <a:cs typeface="Open Sauce"/>
                <a:sym typeface="Open Sauce"/>
              </a:rPr>
              <a:t>e: </a:t>
            </a:r>
            <a:r>
              <a:rPr lang="en-US" sz="2100" spc="33" strike="noStrike">
                <a:solidFill>
                  <a:srgbClr val="F8FCFF"/>
                </a:solidFill>
                <a:latin typeface="Open Sauce"/>
                <a:ea typeface="Open Sauce"/>
                <a:cs typeface="Open Sauce"/>
                <a:sym typeface="Open Sauce"/>
              </a:rPr>
              <a:t>D</a:t>
            </a:r>
            <a:r>
              <a:rPr lang="en-US" sz="2100" spc="33" strike="noStrike">
                <a:solidFill>
                  <a:srgbClr val="F8FCFF"/>
                </a:solidFill>
                <a:latin typeface="Open Sauce"/>
                <a:ea typeface="Open Sauce"/>
                <a:cs typeface="Open Sauce"/>
                <a:sym typeface="Open Sauce"/>
              </a:rPr>
              <a:t>r</a:t>
            </a:r>
            <a:r>
              <a:rPr lang="en-US" sz="2100" spc="33" strike="noStrike">
                <a:solidFill>
                  <a:srgbClr val="F8FCFF"/>
                </a:solidFill>
                <a:latin typeface="Open Sauce"/>
                <a:ea typeface="Open Sauce"/>
                <a:cs typeface="Open Sauce"/>
                <a:sym typeface="Open Sauce"/>
              </a:rPr>
              <a:t>. Asth</a:t>
            </a:r>
            <a:r>
              <a:rPr lang="en-US" sz="2100" spc="33" strike="noStrike">
                <a:solidFill>
                  <a:srgbClr val="F8FCFF"/>
                </a:solidFill>
                <a:latin typeface="Open Sauce"/>
                <a:ea typeface="Open Sauce"/>
                <a:cs typeface="Open Sauce"/>
                <a:sym typeface="Open Sauce"/>
              </a:rPr>
              <a:t>a</a:t>
            </a:r>
            <a:r>
              <a:rPr lang="en-US" sz="2100" spc="33" strike="noStrike">
                <a:solidFill>
                  <a:srgbClr val="F8FCFF"/>
                </a:solidFill>
                <a:latin typeface="Open Sauce"/>
                <a:ea typeface="Open Sauce"/>
                <a:cs typeface="Open Sauce"/>
                <a:sym typeface="Open Sauce"/>
              </a:rPr>
              <a:t> Sin</a:t>
            </a:r>
            <a:r>
              <a:rPr lang="en-US" sz="2100" spc="33" strike="noStrike">
                <a:solidFill>
                  <a:srgbClr val="F8FCFF"/>
                </a:solidFill>
                <a:latin typeface="Open Sauce"/>
                <a:ea typeface="Open Sauce"/>
                <a:cs typeface="Open Sauce"/>
                <a:sym typeface="Open Sauce"/>
              </a:rPr>
              <a:t>g</a:t>
            </a:r>
            <a:r>
              <a:rPr lang="en-US" sz="2100" spc="33" strike="noStrike">
                <a:solidFill>
                  <a:srgbClr val="F8FCFF"/>
                </a:solidFill>
                <a:latin typeface="Open Sauce"/>
                <a:ea typeface="Open Sauce"/>
                <a:cs typeface="Open Sauce"/>
                <a:sym typeface="Open Sauce"/>
              </a:rPr>
              <a:t>h</a:t>
            </a:r>
          </a:p>
          <a:p>
            <a:pPr algn="l" marL="0" indent="0" lvl="0">
              <a:lnSpc>
                <a:spcPts val="2940"/>
              </a:lnSpc>
              <a:spcBef>
                <a:spcPct val="0"/>
              </a:spcBef>
            </a:pPr>
          </a:p>
        </p:txBody>
      </p:sp>
      <p:sp>
        <p:nvSpPr>
          <p:cNvPr name="TextBox 25" id="25"/>
          <p:cNvSpPr txBox="true"/>
          <p:nvPr/>
        </p:nvSpPr>
        <p:spPr>
          <a:xfrm rot="0">
            <a:off x="7916600" y="1363153"/>
            <a:ext cx="2005110" cy="304419"/>
          </a:xfrm>
          <a:prstGeom prst="rect">
            <a:avLst/>
          </a:prstGeom>
        </p:spPr>
        <p:txBody>
          <a:bodyPr anchor="t" rtlCol="false" tIns="0" lIns="0" bIns="0" rIns="0">
            <a:spAutoFit/>
          </a:bodyPr>
          <a:lstStyle/>
          <a:p>
            <a:pPr algn="ctr">
              <a:lnSpc>
                <a:spcPts val="2372"/>
              </a:lnSpc>
            </a:pPr>
            <a:r>
              <a:rPr lang="en-US" sz="2100" spc="33">
                <a:solidFill>
                  <a:srgbClr val="00172C"/>
                </a:solidFill>
                <a:latin typeface="Open Sauce"/>
                <a:ea typeface="Open Sauce"/>
                <a:cs typeface="Open Sauce"/>
                <a:sym typeface="Open Sauce"/>
              </a:rPr>
              <a:t>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DAHOia_jGZM</dc:identifier>
  <dcterms:modified xsi:type="dcterms:W3CDTF">2011-08-01T06:04:30Z</dcterms:modified>
  <cp:revision>1</cp:revision>
  <dc:title>Blue White Minimal Technology Presentation</dc:title>
</cp:coreProperties>
</file>